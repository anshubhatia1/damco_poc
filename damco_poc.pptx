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5" r:id="rId2"/>
    <p:sldId id="263" r:id="rId3"/>
    <p:sldId id="264" r:id="rId4"/>
    <p:sldId id="262" r:id="rId5"/>
    <p:sldId id="261"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06" autoAdjust="0"/>
    <p:restoredTop sz="94660"/>
  </p:normalViewPr>
  <p:slideViewPr>
    <p:cSldViewPr snapToGrid="0">
      <p:cViewPr varScale="1">
        <p:scale>
          <a:sx n="83" d="100"/>
          <a:sy n="83" d="100"/>
        </p:scale>
        <p:origin x="39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1E1B2-5757-6728-4009-4245F91CE61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46DB31C-32B8-E402-2CDC-04A4CC6E41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6AFD72C-5F6C-D1F4-C959-983B146FC815}"/>
              </a:ext>
            </a:extLst>
          </p:cNvPr>
          <p:cNvSpPr>
            <a:spLocks noGrp="1"/>
          </p:cNvSpPr>
          <p:nvPr>
            <p:ph type="dt" sz="half" idx="10"/>
          </p:nvPr>
        </p:nvSpPr>
        <p:spPr/>
        <p:txBody>
          <a:bodyPr/>
          <a:lstStyle/>
          <a:p>
            <a:fld id="{A54D9D77-A4FD-4E99-99CE-6DAE853A330F}" type="datetimeFigureOut">
              <a:rPr lang="en-IN" smtClean="0"/>
              <a:t>14-05-2026</a:t>
            </a:fld>
            <a:endParaRPr lang="en-IN"/>
          </a:p>
        </p:txBody>
      </p:sp>
      <p:sp>
        <p:nvSpPr>
          <p:cNvPr id="5" name="Footer Placeholder 4">
            <a:extLst>
              <a:ext uri="{FF2B5EF4-FFF2-40B4-BE49-F238E27FC236}">
                <a16:creationId xmlns:a16="http://schemas.microsoft.com/office/drawing/2014/main" id="{D04BB7BA-DF40-C8B7-0DC6-865B683519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B92710C-E72C-1354-5A3F-BEB57843E658}"/>
              </a:ext>
            </a:extLst>
          </p:cNvPr>
          <p:cNvSpPr>
            <a:spLocks noGrp="1"/>
          </p:cNvSpPr>
          <p:nvPr>
            <p:ph type="sldNum" sz="quarter" idx="12"/>
          </p:nvPr>
        </p:nvSpPr>
        <p:spPr/>
        <p:txBody>
          <a:bodyPr/>
          <a:lstStyle/>
          <a:p>
            <a:fld id="{62DEBABA-AC34-44B7-93CC-7C3228575117}" type="slidenum">
              <a:rPr lang="en-IN" smtClean="0"/>
              <a:t>‹#›</a:t>
            </a:fld>
            <a:endParaRPr lang="en-IN"/>
          </a:p>
        </p:txBody>
      </p:sp>
    </p:spTree>
    <p:extLst>
      <p:ext uri="{BB962C8B-B14F-4D97-AF65-F5344CB8AC3E}">
        <p14:creationId xmlns:p14="http://schemas.microsoft.com/office/powerpoint/2010/main" val="806820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A9EDD-67D8-E1D8-F867-9319C7B2FF8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B38E080-7F73-064E-D1ED-74551258104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3EE779-EADA-9B3A-F083-5E606B76462D}"/>
              </a:ext>
            </a:extLst>
          </p:cNvPr>
          <p:cNvSpPr>
            <a:spLocks noGrp="1"/>
          </p:cNvSpPr>
          <p:nvPr>
            <p:ph type="dt" sz="half" idx="10"/>
          </p:nvPr>
        </p:nvSpPr>
        <p:spPr/>
        <p:txBody>
          <a:bodyPr/>
          <a:lstStyle/>
          <a:p>
            <a:fld id="{A54D9D77-A4FD-4E99-99CE-6DAE853A330F}" type="datetimeFigureOut">
              <a:rPr lang="en-IN" smtClean="0"/>
              <a:t>14-05-2026</a:t>
            </a:fld>
            <a:endParaRPr lang="en-IN"/>
          </a:p>
        </p:txBody>
      </p:sp>
      <p:sp>
        <p:nvSpPr>
          <p:cNvPr id="5" name="Footer Placeholder 4">
            <a:extLst>
              <a:ext uri="{FF2B5EF4-FFF2-40B4-BE49-F238E27FC236}">
                <a16:creationId xmlns:a16="http://schemas.microsoft.com/office/drawing/2014/main" id="{595D7AF5-04C4-E7A1-38CF-1ACC2ECFB2F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4389530-6972-84C9-4003-2C279E6C7410}"/>
              </a:ext>
            </a:extLst>
          </p:cNvPr>
          <p:cNvSpPr>
            <a:spLocks noGrp="1"/>
          </p:cNvSpPr>
          <p:nvPr>
            <p:ph type="sldNum" sz="quarter" idx="12"/>
          </p:nvPr>
        </p:nvSpPr>
        <p:spPr/>
        <p:txBody>
          <a:bodyPr/>
          <a:lstStyle/>
          <a:p>
            <a:fld id="{62DEBABA-AC34-44B7-93CC-7C3228575117}" type="slidenum">
              <a:rPr lang="en-IN" smtClean="0"/>
              <a:t>‹#›</a:t>
            </a:fld>
            <a:endParaRPr lang="en-IN"/>
          </a:p>
        </p:txBody>
      </p:sp>
    </p:spTree>
    <p:extLst>
      <p:ext uri="{BB962C8B-B14F-4D97-AF65-F5344CB8AC3E}">
        <p14:creationId xmlns:p14="http://schemas.microsoft.com/office/powerpoint/2010/main" val="3069432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E907D-45C3-5038-DADF-C441CA81FD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75AC1E9-A7AC-7AD2-9AA6-4180E1E3BD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882FF2-1494-56CC-4C70-21BE324D16D0}"/>
              </a:ext>
            </a:extLst>
          </p:cNvPr>
          <p:cNvSpPr>
            <a:spLocks noGrp="1"/>
          </p:cNvSpPr>
          <p:nvPr>
            <p:ph type="dt" sz="half" idx="10"/>
          </p:nvPr>
        </p:nvSpPr>
        <p:spPr/>
        <p:txBody>
          <a:bodyPr/>
          <a:lstStyle/>
          <a:p>
            <a:fld id="{A54D9D77-A4FD-4E99-99CE-6DAE853A330F}" type="datetimeFigureOut">
              <a:rPr lang="en-IN" smtClean="0"/>
              <a:t>14-05-2026</a:t>
            </a:fld>
            <a:endParaRPr lang="en-IN"/>
          </a:p>
        </p:txBody>
      </p:sp>
      <p:sp>
        <p:nvSpPr>
          <p:cNvPr id="5" name="Footer Placeholder 4">
            <a:extLst>
              <a:ext uri="{FF2B5EF4-FFF2-40B4-BE49-F238E27FC236}">
                <a16:creationId xmlns:a16="http://schemas.microsoft.com/office/drawing/2014/main" id="{18D80F15-51F7-3AF9-8237-1518634B50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54D114A-B340-0A3E-8828-51BB970B6F42}"/>
              </a:ext>
            </a:extLst>
          </p:cNvPr>
          <p:cNvSpPr>
            <a:spLocks noGrp="1"/>
          </p:cNvSpPr>
          <p:nvPr>
            <p:ph type="sldNum" sz="quarter" idx="12"/>
          </p:nvPr>
        </p:nvSpPr>
        <p:spPr/>
        <p:txBody>
          <a:bodyPr/>
          <a:lstStyle/>
          <a:p>
            <a:fld id="{62DEBABA-AC34-44B7-93CC-7C3228575117}" type="slidenum">
              <a:rPr lang="en-IN" smtClean="0"/>
              <a:t>‹#›</a:t>
            </a:fld>
            <a:endParaRPr lang="en-IN"/>
          </a:p>
        </p:txBody>
      </p:sp>
    </p:spTree>
    <p:extLst>
      <p:ext uri="{BB962C8B-B14F-4D97-AF65-F5344CB8AC3E}">
        <p14:creationId xmlns:p14="http://schemas.microsoft.com/office/powerpoint/2010/main" val="297121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4E659-9D85-4D16-C31B-52D11EDF25C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B74F29-1EDA-4D1C-53F3-C2D14A75B5B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1BCFB60-EBF4-2DA3-BA9A-EC80C6FA64E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053339E-95EB-C7EB-248C-610BD234429A}"/>
              </a:ext>
            </a:extLst>
          </p:cNvPr>
          <p:cNvSpPr>
            <a:spLocks noGrp="1"/>
          </p:cNvSpPr>
          <p:nvPr>
            <p:ph type="dt" sz="half" idx="10"/>
          </p:nvPr>
        </p:nvSpPr>
        <p:spPr/>
        <p:txBody>
          <a:bodyPr/>
          <a:lstStyle/>
          <a:p>
            <a:fld id="{A54D9D77-A4FD-4E99-99CE-6DAE853A330F}" type="datetimeFigureOut">
              <a:rPr lang="en-IN" smtClean="0"/>
              <a:t>14-05-2026</a:t>
            </a:fld>
            <a:endParaRPr lang="en-IN"/>
          </a:p>
        </p:txBody>
      </p:sp>
      <p:sp>
        <p:nvSpPr>
          <p:cNvPr id="6" name="Footer Placeholder 5">
            <a:extLst>
              <a:ext uri="{FF2B5EF4-FFF2-40B4-BE49-F238E27FC236}">
                <a16:creationId xmlns:a16="http://schemas.microsoft.com/office/drawing/2014/main" id="{0698C582-52D5-93CD-89D0-97D02FEE08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10E7852-999C-9F71-378C-5C91A128A5C1}"/>
              </a:ext>
            </a:extLst>
          </p:cNvPr>
          <p:cNvSpPr>
            <a:spLocks noGrp="1"/>
          </p:cNvSpPr>
          <p:nvPr>
            <p:ph type="sldNum" sz="quarter" idx="12"/>
          </p:nvPr>
        </p:nvSpPr>
        <p:spPr/>
        <p:txBody>
          <a:bodyPr/>
          <a:lstStyle/>
          <a:p>
            <a:fld id="{62DEBABA-AC34-44B7-93CC-7C3228575117}" type="slidenum">
              <a:rPr lang="en-IN" smtClean="0"/>
              <a:t>‹#›</a:t>
            </a:fld>
            <a:endParaRPr lang="en-IN"/>
          </a:p>
        </p:txBody>
      </p:sp>
    </p:spTree>
    <p:extLst>
      <p:ext uri="{BB962C8B-B14F-4D97-AF65-F5344CB8AC3E}">
        <p14:creationId xmlns:p14="http://schemas.microsoft.com/office/powerpoint/2010/main" val="13974663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22D8B-D105-6E13-72AE-41B433E8BC4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6068A41-685C-D17A-18FD-8902AB2E2D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8CA62B-1A14-6016-19F4-4453A1B27A0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B5AD055-FAA6-8B41-E4CE-DAFDCC4A5B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7309B43-1673-4BA9-EEE9-FCCF913D055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2099FFA-9242-6FA8-419D-D21AE49AD2C7}"/>
              </a:ext>
            </a:extLst>
          </p:cNvPr>
          <p:cNvSpPr>
            <a:spLocks noGrp="1"/>
          </p:cNvSpPr>
          <p:nvPr>
            <p:ph type="dt" sz="half" idx="10"/>
          </p:nvPr>
        </p:nvSpPr>
        <p:spPr/>
        <p:txBody>
          <a:bodyPr/>
          <a:lstStyle/>
          <a:p>
            <a:fld id="{A54D9D77-A4FD-4E99-99CE-6DAE853A330F}" type="datetimeFigureOut">
              <a:rPr lang="en-IN" smtClean="0"/>
              <a:t>14-05-2026</a:t>
            </a:fld>
            <a:endParaRPr lang="en-IN"/>
          </a:p>
        </p:txBody>
      </p:sp>
      <p:sp>
        <p:nvSpPr>
          <p:cNvPr id="8" name="Footer Placeholder 7">
            <a:extLst>
              <a:ext uri="{FF2B5EF4-FFF2-40B4-BE49-F238E27FC236}">
                <a16:creationId xmlns:a16="http://schemas.microsoft.com/office/drawing/2014/main" id="{88C488E0-0076-8189-8255-D9DD407B94A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86C699B-7375-DCA0-2F93-CA7F91FD4534}"/>
              </a:ext>
            </a:extLst>
          </p:cNvPr>
          <p:cNvSpPr>
            <a:spLocks noGrp="1"/>
          </p:cNvSpPr>
          <p:nvPr>
            <p:ph type="sldNum" sz="quarter" idx="12"/>
          </p:nvPr>
        </p:nvSpPr>
        <p:spPr/>
        <p:txBody>
          <a:bodyPr/>
          <a:lstStyle/>
          <a:p>
            <a:fld id="{62DEBABA-AC34-44B7-93CC-7C3228575117}" type="slidenum">
              <a:rPr lang="en-IN" smtClean="0"/>
              <a:t>‹#›</a:t>
            </a:fld>
            <a:endParaRPr lang="en-IN"/>
          </a:p>
        </p:txBody>
      </p:sp>
    </p:spTree>
    <p:extLst>
      <p:ext uri="{BB962C8B-B14F-4D97-AF65-F5344CB8AC3E}">
        <p14:creationId xmlns:p14="http://schemas.microsoft.com/office/powerpoint/2010/main" val="9169083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B0B46-398F-B2C0-1D44-61FC892DEC4E}"/>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B98FBD0-92E4-0761-69F9-CDCA6907A95D}"/>
              </a:ext>
            </a:extLst>
          </p:cNvPr>
          <p:cNvSpPr>
            <a:spLocks noGrp="1"/>
          </p:cNvSpPr>
          <p:nvPr>
            <p:ph type="dt" sz="half" idx="10"/>
          </p:nvPr>
        </p:nvSpPr>
        <p:spPr/>
        <p:txBody>
          <a:bodyPr/>
          <a:lstStyle/>
          <a:p>
            <a:fld id="{A54D9D77-A4FD-4E99-99CE-6DAE853A330F}" type="datetimeFigureOut">
              <a:rPr lang="en-IN" smtClean="0"/>
              <a:t>14-05-2026</a:t>
            </a:fld>
            <a:endParaRPr lang="en-IN"/>
          </a:p>
        </p:txBody>
      </p:sp>
      <p:sp>
        <p:nvSpPr>
          <p:cNvPr id="4" name="Footer Placeholder 3">
            <a:extLst>
              <a:ext uri="{FF2B5EF4-FFF2-40B4-BE49-F238E27FC236}">
                <a16:creationId xmlns:a16="http://schemas.microsoft.com/office/drawing/2014/main" id="{A1698750-B868-10EC-32AB-71D42E55692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74846AD-E339-CF40-DE9E-1654367865C5}"/>
              </a:ext>
            </a:extLst>
          </p:cNvPr>
          <p:cNvSpPr>
            <a:spLocks noGrp="1"/>
          </p:cNvSpPr>
          <p:nvPr>
            <p:ph type="sldNum" sz="quarter" idx="12"/>
          </p:nvPr>
        </p:nvSpPr>
        <p:spPr/>
        <p:txBody>
          <a:bodyPr/>
          <a:lstStyle/>
          <a:p>
            <a:fld id="{62DEBABA-AC34-44B7-93CC-7C3228575117}" type="slidenum">
              <a:rPr lang="en-IN" smtClean="0"/>
              <a:t>‹#›</a:t>
            </a:fld>
            <a:endParaRPr lang="en-IN"/>
          </a:p>
        </p:txBody>
      </p:sp>
    </p:spTree>
    <p:extLst>
      <p:ext uri="{BB962C8B-B14F-4D97-AF65-F5344CB8AC3E}">
        <p14:creationId xmlns:p14="http://schemas.microsoft.com/office/powerpoint/2010/main" val="927436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7BE9148-E322-DD92-7008-62EFDB89DE9D}"/>
              </a:ext>
            </a:extLst>
          </p:cNvPr>
          <p:cNvSpPr>
            <a:spLocks noGrp="1"/>
          </p:cNvSpPr>
          <p:nvPr>
            <p:ph type="dt" sz="half" idx="10"/>
          </p:nvPr>
        </p:nvSpPr>
        <p:spPr/>
        <p:txBody>
          <a:bodyPr/>
          <a:lstStyle/>
          <a:p>
            <a:fld id="{A54D9D77-A4FD-4E99-99CE-6DAE853A330F}" type="datetimeFigureOut">
              <a:rPr lang="en-IN" smtClean="0"/>
              <a:t>14-05-2026</a:t>
            </a:fld>
            <a:endParaRPr lang="en-IN"/>
          </a:p>
        </p:txBody>
      </p:sp>
      <p:sp>
        <p:nvSpPr>
          <p:cNvPr id="3" name="Footer Placeholder 2">
            <a:extLst>
              <a:ext uri="{FF2B5EF4-FFF2-40B4-BE49-F238E27FC236}">
                <a16:creationId xmlns:a16="http://schemas.microsoft.com/office/drawing/2014/main" id="{86EE4B7F-2DCF-BB00-1025-4A862447CFA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5B1D008-78E7-3B5E-7A56-72D7AB5672BF}"/>
              </a:ext>
            </a:extLst>
          </p:cNvPr>
          <p:cNvSpPr>
            <a:spLocks noGrp="1"/>
          </p:cNvSpPr>
          <p:nvPr>
            <p:ph type="sldNum" sz="quarter" idx="12"/>
          </p:nvPr>
        </p:nvSpPr>
        <p:spPr/>
        <p:txBody>
          <a:bodyPr/>
          <a:lstStyle/>
          <a:p>
            <a:fld id="{62DEBABA-AC34-44B7-93CC-7C3228575117}" type="slidenum">
              <a:rPr lang="en-IN" smtClean="0"/>
              <a:t>‹#›</a:t>
            </a:fld>
            <a:endParaRPr lang="en-IN"/>
          </a:p>
        </p:txBody>
      </p:sp>
    </p:spTree>
    <p:extLst>
      <p:ext uri="{BB962C8B-B14F-4D97-AF65-F5344CB8AC3E}">
        <p14:creationId xmlns:p14="http://schemas.microsoft.com/office/powerpoint/2010/main" val="666026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F0907-8937-FC0D-40A4-99D3B18B43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60E020F-4BDE-587A-7C79-868DE623EB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B819396-B828-1EBC-F943-F4D5F1FBFE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B03F91B-0BA3-F903-B1D5-F71A44A035F8}"/>
              </a:ext>
            </a:extLst>
          </p:cNvPr>
          <p:cNvSpPr>
            <a:spLocks noGrp="1"/>
          </p:cNvSpPr>
          <p:nvPr>
            <p:ph type="dt" sz="half" idx="10"/>
          </p:nvPr>
        </p:nvSpPr>
        <p:spPr/>
        <p:txBody>
          <a:bodyPr/>
          <a:lstStyle/>
          <a:p>
            <a:fld id="{A54D9D77-A4FD-4E99-99CE-6DAE853A330F}" type="datetimeFigureOut">
              <a:rPr lang="en-IN" smtClean="0"/>
              <a:t>14-05-2026</a:t>
            </a:fld>
            <a:endParaRPr lang="en-IN"/>
          </a:p>
        </p:txBody>
      </p:sp>
      <p:sp>
        <p:nvSpPr>
          <p:cNvPr id="6" name="Footer Placeholder 5">
            <a:extLst>
              <a:ext uri="{FF2B5EF4-FFF2-40B4-BE49-F238E27FC236}">
                <a16:creationId xmlns:a16="http://schemas.microsoft.com/office/drawing/2014/main" id="{51C5648D-3EDD-0232-FBA3-1BDE1BB5DB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CAEDDC-2527-B78E-0023-1876A7B033C4}"/>
              </a:ext>
            </a:extLst>
          </p:cNvPr>
          <p:cNvSpPr>
            <a:spLocks noGrp="1"/>
          </p:cNvSpPr>
          <p:nvPr>
            <p:ph type="sldNum" sz="quarter" idx="12"/>
          </p:nvPr>
        </p:nvSpPr>
        <p:spPr/>
        <p:txBody>
          <a:bodyPr/>
          <a:lstStyle/>
          <a:p>
            <a:fld id="{62DEBABA-AC34-44B7-93CC-7C3228575117}" type="slidenum">
              <a:rPr lang="en-IN" smtClean="0"/>
              <a:t>‹#›</a:t>
            </a:fld>
            <a:endParaRPr lang="en-IN"/>
          </a:p>
        </p:txBody>
      </p:sp>
    </p:spTree>
    <p:extLst>
      <p:ext uri="{BB962C8B-B14F-4D97-AF65-F5344CB8AC3E}">
        <p14:creationId xmlns:p14="http://schemas.microsoft.com/office/powerpoint/2010/main" val="2930211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E0578B-916D-D7DB-D3A9-CEDBFEC983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A94F407-4001-940B-6539-AB57946D3F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00DCF56-B6E2-4B66-DF8C-67FC9E687F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CBA427-EC1C-E305-FCDE-CBD0803EB22B}"/>
              </a:ext>
            </a:extLst>
          </p:cNvPr>
          <p:cNvSpPr>
            <a:spLocks noGrp="1"/>
          </p:cNvSpPr>
          <p:nvPr>
            <p:ph type="dt" sz="half" idx="10"/>
          </p:nvPr>
        </p:nvSpPr>
        <p:spPr/>
        <p:txBody>
          <a:bodyPr/>
          <a:lstStyle/>
          <a:p>
            <a:fld id="{A54D9D77-A4FD-4E99-99CE-6DAE853A330F}" type="datetimeFigureOut">
              <a:rPr lang="en-IN" smtClean="0"/>
              <a:t>14-05-2026</a:t>
            </a:fld>
            <a:endParaRPr lang="en-IN"/>
          </a:p>
        </p:txBody>
      </p:sp>
      <p:sp>
        <p:nvSpPr>
          <p:cNvPr id="6" name="Footer Placeholder 5">
            <a:extLst>
              <a:ext uri="{FF2B5EF4-FFF2-40B4-BE49-F238E27FC236}">
                <a16:creationId xmlns:a16="http://schemas.microsoft.com/office/drawing/2014/main" id="{3853D9C8-DE42-0DE7-53C5-5880F787295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70C3EE1-30F6-A12E-D31C-2EB3D1EBF0AC}"/>
              </a:ext>
            </a:extLst>
          </p:cNvPr>
          <p:cNvSpPr>
            <a:spLocks noGrp="1"/>
          </p:cNvSpPr>
          <p:nvPr>
            <p:ph type="sldNum" sz="quarter" idx="12"/>
          </p:nvPr>
        </p:nvSpPr>
        <p:spPr/>
        <p:txBody>
          <a:bodyPr/>
          <a:lstStyle/>
          <a:p>
            <a:fld id="{62DEBABA-AC34-44B7-93CC-7C3228575117}" type="slidenum">
              <a:rPr lang="en-IN" smtClean="0"/>
              <a:t>‹#›</a:t>
            </a:fld>
            <a:endParaRPr lang="en-IN"/>
          </a:p>
        </p:txBody>
      </p:sp>
    </p:spTree>
    <p:extLst>
      <p:ext uri="{BB962C8B-B14F-4D97-AF65-F5344CB8AC3E}">
        <p14:creationId xmlns:p14="http://schemas.microsoft.com/office/powerpoint/2010/main" val="13522752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8AE87-3B0A-6942-A20B-D1632CA834E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043D3B9-FE5E-18CD-DB57-345CA822FA5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0B1E13-9CD5-AAC6-B743-C018D941497F}"/>
              </a:ext>
            </a:extLst>
          </p:cNvPr>
          <p:cNvSpPr>
            <a:spLocks noGrp="1"/>
          </p:cNvSpPr>
          <p:nvPr>
            <p:ph type="dt" sz="half" idx="10"/>
          </p:nvPr>
        </p:nvSpPr>
        <p:spPr/>
        <p:txBody>
          <a:bodyPr/>
          <a:lstStyle/>
          <a:p>
            <a:fld id="{A54D9D77-A4FD-4E99-99CE-6DAE853A330F}" type="datetimeFigureOut">
              <a:rPr lang="en-IN" smtClean="0"/>
              <a:t>14-05-2026</a:t>
            </a:fld>
            <a:endParaRPr lang="en-IN"/>
          </a:p>
        </p:txBody>
      </p:sp>
      <p:sp>
        <p:nvSpPr>
          <p:cNvPr id="5" name="Footer Placeholder 4">
            <a:extLst>
              <a:ext uri="{FF2B5EF4-FFF2-40B4-BE49-F238E27FC236}">
                <a16:creationId xmlns:a16="http://schemas.microsoft.com/office/drawing/2014/main" id="{0D7BE1FA-72A7-3079-4462-A37AB8CD45A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BA4380-3E36-E3E3-93A0-E7084221E776}"/>
              </a:ext>
            </a:extLst>
          </p:cNvPr>
          <p:cNvSpPr>
            <a:spLocks noGrp="1"/>
          </p:cNvSpPr>
          <p:nvPr>
            <p:ph type="sldNum" sz="quarter" idx="12"/>
          </p:nvPr>
        </p:nvSpPr>
        <p:spPr/>
        <p:txBody>
          <a:bodyPr/>
          <a:lstStyle/>
          <a:p>
            <a:fld id="{62DEBABA-AC34-44B7-93CC-7C3228575117}" type="slidenum">
              <a:rPr lang="en-IN" smtClean="0"/>
              <a:t>‹#›</a:t>
            </a:fld>
            <a:endParaRPr lang="en-IN"/>
          </a:p>
        </p:txBody>
      </p:sp>
    </p:spTree>
    <p:extLst>
      <p:ext uri="{BB962C8B-B14F-4D97-AF65-F5344CB8AC3E}">
        <p14:creationId xmlns:p14="http://schemas.microsoft.com/office/powerpoint/2010/main" val="21327623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9DF993D-B8CC-44C5-2143-CF760BB64D1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D8F5AA9-A492-FA5B-3165-854D75AD1B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88283B-A200-7337-2042-1D1B45ACF259}"/>
              </a:ext>
            </a:extLst>
          </p:cNvPr>
          <p:cNvSpPr>
            <a:spLocks noGrp="1"/>
          </p:cNvSpPr>
          <p:nvPr>
            <p:ph type="dt" sz="half" idx="10"/>
          </p:nvPr>
        </p:nvSpPr>
        <p:spPr/>
        <p:txBody>
          <a:bodyPr/>
          <a:lstStyle/>
          <a:p>
            <a:fld id="{A54D9D77-A4FD-4E99-99CE-6DAE853A330F}" type="datetimeFigureOut">
              <a:rPr lang="en-IN" smtClean="0"/>
              <a:t>14-05-2026</a:t>
            </a:fld>
            <a:endParaRPr lang="en-IN"/>
          </a:p>
        </p:txBody>
      </p:sp>
      <p:sp>
        <p:nvSpPr>
          <p:cNvPr id="5" name="Footer Placeholder 4">
            <a:extLst>
              <a:ext uri="{FF2B5EF4-FFF2-40B4-BE49-F238E27FC236}">
                <a16:creationId xmlns:a16="http://schemas.microsoft.com/office/drawing/2014/main" id="{C7EC666E-4176-24B8-A73E-D52597293A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2B14318-3A5D-57BC-CBF8-D299DB59B16C}"/>
              </a:ext>
            </a:extLst>
          </p:cNvPr>
          <p:cNvSpPr>
            <a:spLocks noGrp="1"/>
          </p:cNvSpPr>
          <p:nvPr>
            <p:ph type="sldNum" sz="quarter" idx="12"/>
          </p:nvPr>
        </p:nvSpPr>
        <p:spPr/>
        <p:txBody>
          <a:bodyPr/>
          <a:lstStyle/>
          <a:p>
            <a:fld id="{62DEBABA-AC34-44B7-93CC-7C3228575117}" type="slidenum">
              <a:rPr lang="en-IN" smtClean="0"/>
              <a:t>‹#›</a:t>
            </a:fld>
            <a:endParaRPr lang="en-IN"/>
          </a:p>
        </p:txBody>
      </p:sp>
    </p:spTree>
    <p:extLst>
      <p:ext uri="{BB962C8B-B14F-4D97-AF65-F5344CB8AC3E}">
        <p14:creationId xmlns:p14="http://schemas.microsoft.com/office/powerpoint/2010/main" val="793369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ECB6F2-147C-5506-DD97-A9093FB4B18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A36689-778B-6355-EF9F-2504C2A533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12C1C1A-C62F-48C2-76F2-92B4479BD5F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4D9D77-A4FD-4E99-99CE-6DAE853A330F}" type="datetimeFigureOut">
              <a:rPr lang="en-IN" smtClean="0"/>
              <a:t>14-05-2026</a:t>
            </a:fld>
            <a:endParaRPr lang="en-IN"/>
          </a:p>
        </p:txBody>
      </p:sp>
      <p:sp>
        <p:nvSpPr>
          <p:cNvPr id="5" name="Footer Placeholder 4">
            <a:extLst>
              <a:ext uri="{FF2B5EF4-FFF2-40B4-BE49-F238E27FC236}">
                <a16:creationId xmlns:a16="http://schemas.microsoft.com/office/drawing/2014/main" id="{01DD717B-A28F-BAC6-88AF-706890B362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D5BDE96-6465-0581-CEB2-A65A9DE6AF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DEBABA-AC34-44B7-93CC-7C3228575117}" type="slidenum">
              <a:rPr lang="en-IN" smtClean="0"/>
              <a:t>‹#›</a:t>
            </a:fld>
            <a:endParaRPr lang="en-IN"/>
          </a:p>
        </p:txBody>
      </p:sp>
    </p:spTree>
    <p:extLst>
      <p:ext uri="{BB962C8B-B14F-4D97-AF65-F5344CB8AC3E}">
        <p14:creationId xmlns:p14="http://schemas.microsoft.com/office/powerpoint/2010/main" val="23015341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588" y="859537"/>
            <a:ext cx="12188952" cy="7315"/>
          </a:xfrm>
          <a:prstGeom prst="rect">
            <a:avLst/>
          </a:prstGeom>
          <a:solidFill>
            <a:srgbClr val="252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588" y="1719073"/>
            <a:ext cx="12188952" cy="7315"/>
          </a:xfrm>
          <a:prstGeom prst="rect">
            <a:avLst/>
          </a:prstGeom>
          <a:solidFill>
            <a:srgbClr val="252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1588" y="2578609"/>
            <a:ext cx="12188952" cy="7315"/>
          </a:xfrm>
          <a:prstGeom prst="rect">
            <a:avLst/>
          </a:prstGeom>
          <a:solidFill>
            <a:srgbClr val="252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588" y="3438145"/>
            <a:ext cx="12188952" cy="7315"/>
          </a:xfrm>
          <a:prstGeom prst="rect">
            <a:avLst/>
          </a:prstGeom>
          <a:solidFill>
            <a:srgbClr val="252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588" y="4297680"/>
            <a:ext cx="12188952" cy="7315"/>
          </a:xfrm>
          <a:prstGeom prst="rect">
            <a:avLst/>
          </a:prstGeom>
          <a:solidFill>
            <a:srgbClr val="252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1588" y="5157217"/>
            <a:ext cx="12188952" cy="7315"/>
          </a:xfrm>
          <a:prstGeom prst="rect">
            <a:avLst/>
          </a:prstGeom>
          <a:solidFill>
            <a:srgbClr val="252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1588" y="6016753"/>
            <a:ext cx="12188952" cy="7315"/>
          </a:xfrm>
          <a:prstGeom prst="rect">
            <a:avLst/>
          </a:prstGeom>
          <a:solidFill>
            <a:srgbClr val="252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588" y="6876288"/>
            <a:ext cx="12188952" cy="7315"/>
          </a:xfrm>
          <a:prstGeom prst="rect">
            <a:avLst/>
          </a:prstGeom>
          <a:solidFill>
            <a:srgbClr val="252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70269" y="0"/>
            <a:ext cx="7315" cy="6858000"/>
          </a:xfrm>
          <a:prstGeom prst="rect">
            <a:avLst/>
          </a:prstGeom>
          <a:solidFill>
            <a:srgbClr val="252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738949" y="0"/>
            <a:ext cx="7315" cy="6858000"/>
          </a:xfrm>
          <a:prstGeom prst="rect">
            <a:avLst/>
          </a:prstGeom>
          <a:solidFill>
            <a:srgbClr val="252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607628" y="0"/>
            <a:ext cx="7315" cy="6858000"/>
          </a:xfrm>
          <a:prstGeom prst="rect">
            <a:avLst/>
          </a:prstGeom>
          <a:solidFill>
            <a:srgbClr val="252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476309" y="0"/>
            <a:ext cx="7315" cy="6858000"/>
          </a:xfrm>
          <a:prstGeom prst="rect">
            <a:avLst/>
          </a:prstGeom>
          <a:solidFill>
            <a:srgbClr val="252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44989" y="0"/>
            <a:ext cx="7315" cy="6858000"/>
          </a:xfrm>
          <a:prstGeom prst="rect">
            <a:avLst/>
          </a:prstGeom>
          <a:solidFill>
            <a:srgbClr val="252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213668" y="0"/>
            <a:ext cx="7315" cy="6858000"/>
          </a:xfrm>
          <a:prstGeom prst="rect">
            <a:avLst/>
          </a:prstGeom>
          <a:solidFill>
            <a:srgbClr val="252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082348" y="0"/>
            <a:ext cx="7315" cy="6858000"/>
          </a:xfrm>
          <a:prstGeom prst="rect">
            <a:avLst/>
          </a:prstGeom>
          <a:solidFill>
            <a:srgbClr val="252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951029" y="0"/>
            <a:ext cx="7315" cy="6858000"/>
          </a:xfrm>
          <a:prstGeom prst="rect">
            <a:avLst/>
          </a:prstGeom>
          <a:solidFill>
            <a:srgbClr val="252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819708" y="0"/>
            <a:ext cx="7315" cy="6858000"/>
          </a:xfrm>
          <a:prstGeom prst="rect">
            <a:avLst/>
          </a:prstGeom>
          <a:solidFill>
            <a:srgbClr val="252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688389" y="0"/>
            <a:ext cx="7315" cy="6858000"/>
          </a:xfrm>
          <a:prstGeom prst="rect">
            <a:avLst/>
          </a:prstGeom>
          <a:solidFill>
            <a:srgbClr val="252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9557069" y="0"/>
            <a:ext cx="7315" cy="6858000"/>
          </a:xfrm>
          <a:prstGeom prst="rect">
            <a:avLst/>
          </a:prstGeom>
          <a:solidFill>
            <a:srgbClr val="252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10425748" y="0"/>
            <a:ext cx="7315" cy="6858000"/>
          </a:xfrm>
          <a:prstGeom prst="rect">
            <a:avLst/>
          </a:prstGeom>
          <a:solidFill>
            <a:srgbClr val="252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11294429" y="0"/>
            <a:ext cx="7315" cy="6858000"/>
          </a:xfrm>
          <a:prstGeom prst="rect">
            <a:avLst/>
          </a:prstGeom>
          <a:solidFill>
            <a:srgbClr val="252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2163108" y="0"/>
            <a:ext cx="7315" cy="6858000"/>
          </a:xfrm>
          <a:prstGeom prst="rect">
            <a:avLst/>
          </a:prstGeom>
          <a:solidFill>
            <a:srgbClr val="252F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588" y="5989320"/>
            <a:ext cx="12188952" cy="868680"/>
          </a:xfrm>
          <a:prstGeom prst="rect">
            <a:avLst/>
          </a:prstGeom>
          <a:solidFill>
            <a:srgbClr val="151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504508" y="1645920"/>
            <a:ext cx="73152" cy="2926080"/>
          </a:xfrm>
          <a:prstGeom prst="rect">
            <a:avLst/>
          </a:prstGeom>
          <a:solidFill>
            <a:srgbClr val="4F9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87388" y="1645920"/>
            <a:ext cx="777240" cy="274320"/>
          </a:xfrm>
          <a:prstGeom prst="rect">
            <a:avLst/>
          </a:prstGeom>
          <a:solidFill>
            <a:srgbClr val="2A35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05676" y="1664208"/>
            <a:ext cx="758952" cy="237744"/>
          </a:xfrm>
          <a:prstGeom prst="rect">
            <a:avLst/>
          </a:prstGeom>
          <a:noFill/>
        </p:spPr>
        <p:txBody>
          <a:bodyPr wrap="square">
            <a:spAutoFit/>
          </a:bodyPr>
          <a:lstStyle/>
          <a:p>
            <a:pPr algn="ctr"/>
            <a:r>
              <a:rPr sz="900" b="1">
                <a:solidFill>
                  <a:srgbClr val="8AAEF8"/>
                </a:solidFill>
                <a:latin typeface="Calibri"/>
              </a:rPr>
              <a:t>POC</a:t>
            </a:r>
          </a:p>
        </p:txBody>
      </p:sp>
      <p:sp>
        <p:nvSpPr>
          <p:cNvPr id="29" name="TextBox 28"/>
          <p:cNvSpPr txBox="1"/>
          <p:nvPr/>
        </p:nvSpPr>
        <p:spPr>
          <a:xfrm>
            <a:off x="687388" y="1993392"/>
            <a:ext cx="10515600" cy="892552"/>
          </a:xfrm>
          <a:prstGeom prst="rect">
            <a:avLst/>
          </a:prstGeom>
          <a:noFill/>
        </p:spPr>
        <p:txBody>
          <a:bodyPr wrap="square">
            <a:spAutoFit/>
          </a:bodyPr>
          <a:lstStyle/>
          <a:p>
            <a:pPr algn="l"/>
            <a:r>
              <a:rPr sz="5200" b="1">
                <a:solidFill>
                  <a:srgbClr val="FFFFFF"/>
                </a:solidFill>
                <a:latin typeface="Calibri"/>
              </a:rPr>
              <a:t>AI/ML Knowledge Assistant</a:t>
            </a:r>
          </a:p>
        </p:txBody>
      </p:sp>
      <p:sp>
        <p:nvSpPr>
          <p:cNvPr id="30" name="Rectangle 29"/>
          <p:cNvSpPr/>
          <p:nvPr/>
        </p:nvSpPr>
        <p:spPr>
          <a:xfrm>
            <a:off x="687388" y="4005072"/>
            <a:ext cx="3657600" cy="54864"/>
          </a:xfrm>
          <a:prstGeom prst="rect">
            <a:avLst/>
          </a:prstGeom>
          <a:solidFill>
            <a:srgbClr val="4F9C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7388" y="4160521"/>
            <a:ext cx="8686800" cy="323165"/>
          </a:xfrm>
          <a:prstGeom prst="rect">
            <a:avLst/>
          </a:prstGeom>
          <a:noFill/>
        </p:spPr>
        <p:txBody>
          <a:bodyPr wrap="square">
            <a:spAutoFit/>
          </a:bodyPr>
          <a:lstStyle/>
          <a:p>
            <a:pPr algn="l"/>
            <a:r>
              <a:rPr sz="1500" i="1" dirty="0">
                <a:solidFill>
                  <a:srgbClr val="A8BEDD"/>
                </a:solidFill>
                <a:latin typeface="Calibri"/>
              </a:rPr>
              <a:t>A production-ready RAG pipeline over AI/ML books and lecture transcripts</a:t>
            </a:r>
          </a:p>
        </p:txBody>
      </p:sp>
      <p:sp>
        <p:nvSpPr>
          <p:cNvPr id="32" name="TextBox 31"/>
          <p:cNvSpPr txBox="1"/>
          <p:nvPr/>
        </p:nvSpPr>
        <p:spPr>
          <a:xfrm>
            <a:off x="687388" y="6080760"/>
            <a:ext cx="4572000" cy="320040"/>
          </a:xfrm>
          <a:prstGeom prst="rect">
            <a:avLst/>
          </a:prstGeom>
          <a:noFill/>
        </p:spPr>
        <p:txBody>
          <a:bodyPr wrap="square">
            <a:spAutoFit/>
          </a:bodyPr>
          <a:lstStyle/>
          <a:p>
            <a:pPr algn="l"/>
            <a:r>
              <a:rPr sz="1400" b="1" dirty="0">
                <a:solidFill>
                  <a:srgbClr val="FFFFFF"/>
                </a:solidFill>
                <a:latin typeface="Calibri"/>
              </a:rPr>
              <a:t>Anshu</a:t>
            </a:r>
            <a:r>
              <a:rPr lang="en-US" sz="1400" b="1" dirty="0">
                <a:solidFill>
                  <a:srgbClr val="FFFFFF"/>
                </a:solidFill>
                <a:latin typeface="Calibri"/>
              </a:rPr>
              <a:t> Bhatia</a:t>
            </a:r>
            <a:endParaRPr sz="1400" b="1" dirty="0">
              <a:solidFill>
                <a:srgbClr val="FFFFFF"/>
              </a:solidFill>
              <a:latin typeface="Calibri"/>
            </a:endParaRPr>
          </a:p>
        </p:txBody>
      </p:sp>
      <p:sp>
        <p:nvSpPr>
          <p:cNvPr id="34" name="TextBox 33"/>
          <p:cNvSpPr txBox="1"/>
          <p:nvPr/>
        </p:nvSpPr>
        <p:spPr>
          <a:xfrm>
            <a:off x="10517188" y="6382512"/>
            <a:ext cx="1463040" cy="256032"/>
          </a:xfrm>
          <a:prstGeom prst="rect">
            <a:avLst/>
          </a:prstGeom>
          <a:noFill/>
        </p:spPr>
        <p:txBody>
          <a:bodyPr wrap="square">
            <a:spAutoFit/>
          </a:bodyPr>
          <a:lstStyle/>
          <a:p>
            <a:pPr algn="r"/>
            <a:r>
              <a:rPr sz="1000">
                <a:solidFill>
                  <a:srgbClr val="6A82BB"/>
                </a:solidFill>
                <a:latin typeface="Calibri"/>
              </a:rPr>
              <a:t>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588" y="0"/>
            <a:ext cx="12188952" cy="10058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8788" y="164593"/>
            <a:ext cx="4572000" cy="246221"/>
          </a:xfrm>
          <a:prstGeom prst="rect">
            <a:avLst/>
          </a:prstGeom>
          <a:noFill/>
        </p:spPr>
        <p:txBody>
          <a:bodyPr wrap="square">
            <a:spAutoFit/>
          </a:bodyPr>
          <a:lstStyle/>
          <a:p>
            <a:pPr algn="l"/>
            <a:r>
              <a:rPr sz="1000" b="1">
                <a:solidFill>
                  <a:srgbClr val="8AAEF8"/>
                </a:solidFill>
                <a:latin typeface="Calibri"/>
              </a:rPr>
              <a:t>PROBLEM FRAMING</a:t>
            </a:r>
          </a:p>
        </p:txBody>
      </p:sp>
      <p:sp>
        <p:nvSpPr>
          <p:cNvPr id="5" name="TextBox 4"/>
          <p:cNvSpPr txBox="1"/>
          <p:nvPr/>
        </p:nvSpPr>
        <p:spPr>
          <a:xfrm>
            <a:off x="458788" y="475489"/>
            <a:ext cx="8229600" cy="430887"/>
          </a:xfrm>
          <a:prstGeom prst="rect">
            <a:avLst/>
          </a:prstGeom>
          <a:noFill/>
        </p:spPr>
        <p:txBody>
          <a:bodyPr wrap="square">
            <a:spAutoFit/>
          </a:bodyPr>
          <a:lstStyle/>
          <a:p>
            <a:pPr algn="l"/>
            <a:r>
              <a:rPr sz="2200" b="1">
                <a:solidFill>
                  <a:srgbClr val="FFFFFF"/>
                </a:solidFill>
                <a:latin typeface="Calibri"/>
              </a:rPr>
              <a:t>AI/ML knowledge is scattered and hard to search</a:t>
            </a:r>
          </a:p>
        </p:txBody>
      </p:sp>
      <p:sp>
        <p:nvSpPr>
          <p:cNvPr id="6" name="TextBox 5"/>
          <p:cNvSpPr txBox="1"/>
          <p:nvPr/>
        </p:nvSpPr>
        <p:spPr>
          <a:xfrm>
            <a:off x="458788" y="1078992"/>
            <a:ext cx="10972800" cy="253916"/>
          </a:xfrm>
          <a:prstGeom prst="rect">
            <a:avLst/>
          </a:prstGeom>
          <a:noFill/>
        </p:spPr>
        <p:txBody>
          <a:bodyPr wrap="square">
            <a:spAutoFit/>
          </a:bodyPr>
          <a:lstStyle/>
          <a:p>
            <a:pPr algn="l"/>
            <a:r>
              <a:rPr sz="1050" i="1">
                <a:solidFill>
                  <a:srgbClr val="5A6A9A"/>
                </a:solidFill>
                <a:latin typeface="Calibri"/>
              </a:rPr>
              <a:t>When building ML systems, finding answers requires reading entire book chapters. Keyword search fails because how users ask differs from how books explain.</a:t>
            </a:r>
          </a:p>
        </p:txBody>
      </p:sp>
      <p:sp>
        <p:nvSpPr>
          <p:cNvPr id="7" name="Rectangle 6"/>
          <p:cNvSpPr/>
          <p:nvPr/>
        </p:nvSpPr>
        <p:spPr>
          <a:xfrm>
            <a:off x="367348" y="1508760"/>
            <a:ext cx="5303520" cy="2331720"/>
          </a:xfrm>
          <a:prstGeom prst="rect">
            <a:avLst/>
          </a:prstGeom>
          <a:solidFill>
            <a:srgbClr val="FFFFFF"/>
          </a:solidFill>
          <a:ln w="12700">
            <a:solidFill>
              <a:srgbClr val="D0D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7348" y="1508760"/>
            <a:ext cx="64008" cy="233172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1940" y="1600200"/>
            <a:ext cx="5029200" cy="292608"/>
          </a:xfrm>
          <a:prstGeom prst="rect">
            <a:avLst/>
          </a:prstGeom>
          <a:noFill/>
        </p:spPr>
        <p:txBody>
          <a:bodyPr wrap="square">
            <a:spAutoFit/>
          </a:bodyPr>
          <a:lstStyle/>
          <a:p>
            <a:pPr algn="l"/>
            <a:r>
              <a:rPr sz="1300" b="1">
                <a:solidFill>
                  <a:srgbClr val="1E2761"/>
                </a:solidFill>
                <a:latin typeface="Calibri"/>
              </a:rPr>
              <a:t>The Problem</a:t>
            </a:r>
          </a:p>
        </p:txBody>
      </p:sp>
      <p:sp>
        <p:nvSpPr>
          <p:cNvPr id="10" name="TextBox 9"/>
          <p:cNvSpPr txBox="1"/>
          <p:nvPr/>
        </p:nvSpPr>
        <p:spPr>
          <a:xfrm>
            <a:off x="531940" y="1938529"/>
            <a:ext cx="4983480" cy="1061829"/>
          </a:xfrm>
          <a:prstGeom prst="rect">
            <a:avLst/>
          </a:prstGeom>
          <a:noFill/>
        </p:spPr>
        <p:txBody>
          <a:bodyPr wrap="square">
            <a:spAutoFit/>
          </a:bodyPr>
          <a:lstStyle/>
          <a:p>
            <a:pPr algn="l"/>
            <a:r>
              <a:rPr sz="1050" dirty="0">
                <a:solidFill>
                  <a:srgbClr val="333355"/>
                </a:solidFill>
                <a:latin typeface="Calibri"/>
              </a:rPr>
              <a:t>AI and ML knowledge lives across hundreds of pages of dense textbooks and lecture transcripts. There is no efficient way to query this content.
Keyword search fails because the vocabulary gap is wide — a practitioner asks about 'speeding up search' while the book discusses 'approximate nearest </a:t>
            </a:r>
            <a:r>
              <a:rPr sz="1050" dirty="0" err="1">
                <a:solidFill>
                  <a:srgbClr val="333355"/>
                </a:solidFill>
                <a:latin typeface="Calibri"/>
              </a:rPr>
              <a:t>neighbour</a:t>
            </a:r>
            <a:r>
              <a:rPr sz="1050" dirty="0">
                <a:solidFill>
                  <a:srgbClr val="333355"/>
                </a:solidFill>
                <a:latin typeface="Calibri"/>
              </a:rPr>
              <a:t> retrieval'. No shared keywords, yet the same idea.</a:t>
            </a:r>
          </a:p>
        </p:txBody>
      </p:sp>
      <p:sp>
        <p:nvSpPr>
          <p:cNvPr id="11" name="Rectangle 10"/>
          <p:cNvSpPr/>
          <p:nvPr/>
        </p:nvSpPr>
        <p:spPr>
          <a:xfrm>
            <a:off x="367348" y="3977639"/>
            <a:ext cx="5303520" cy="1234440"/>
          </a:xfrm>
          <a:prstGeom prst="rect">
            <a:avLst/>
          </a:prstGeom>
          <a:solidFill>
            <a:srgbClr val="E8EDFB"/>
          </a:solidFill>
          <a:ln w="1524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67348" y="3977639"/>
            <a:ext cx="64008" cy="12344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31940" y="4050791"/>
            <a:ext cx="1097280" cy="230832"/>
          </a:xfrm>
          <a:prstGeom prst="rect">
            <a:avLst/>
          </a:prstGeom>
          <a:noFill/>
        </p:spPr>
        <p:txBody>
          <a:bodyPr wrap="square">
            <a:spAutoFit/>
          </a:bodyPr>
          <a:lstStyle/>
          <a:p>
            <a:pPr algn="l"/>
            <a:r>
              <a:rPr sz="900" b="1">
                <a:solidFill>
                  <a:srgbClr val="1E2761"/>
                </a:solidFill>
                <a:latin typeface="Calibri"/>
              </a:rPr>
              <a:t>THE BET</a:t>
            </a:r>
          </a:p>
        </p:txBody>
      </p:sp>
      <p:sp>
        <p:nvSpPr>
          <p:cNvPr id="14" name="TextBox 13"/>
          <p:cNvSpPr txBox="1"/>
          <p:nvPr/>
        </p:nvSpPr>
        <p:spPr>
          <a:xfrm>
            <a:off x="531940" y="4325113"/>
            <a:ext cx="4983480" cy="430887"/>
          </a:xfrm>
          <a:prstGeom prst="rect">
            <a:avLst/>
          </a:prstGeom>
          <a:noFill/>
        </p:spPr>
        <p:txBody>
          <a:bodyPr wrap="square">
            <a:spAutoFit/>
          </a:bodyPr>
          <a:lstStyle/>
          <a:p>
            <a:pPr algn="l"/>
            <a:r>
              <a:rPr sz="1100">
                <a:solidFill>
                  <a:srgbClr val="1A1A2E"/>
                </a:solidFill>
                <a:latin typeface="Calibri"/>
              </a:rPr>
              <a:t>Retrieval quality beats generation quality. A great LLM cannot fix bad retrieval — so invest in two-stage retrieval with reranking.</a:t>
            </a:r>
          </a:p>
        </p:txBody>
      </p:sp>
      <p:sp>
        <p:nvSpPr>
          <p:cNvPr id="15" name="TextBox 14"/>
          <p:cNvSpPr txBox="1"/>
          <p:nvPr/>
        </p:nvSpPr>
        <p:spPr>
          <a:xfrm>
            <a:off x="6493828" y="1508761"/>
            <a:ext cx="5303520" cy="246221"/>
          </a:xfrm>
          <a:prstGeom prst="rect">
            <a:avLst/>
          </a:prstGeom>
          <a:noFill/>
        </p:spPr>
        <p:txBody>
          <a:bodyPr wrap="square">
            <a:spAutoFit/>
          </a:bodyPr>
          <a:lstStyle/>
          <a:p>
            <a:pPr algn="l"/>
            <a:r>
              <a:rPr sz="1000" b="1">
                <a:solidFill>
                  <a:srgbClr val="5A6A9A"/>
                </a:solidFill>
                <a:latin typeface="Calibri"/>
              </a:rPr>
              <a:t>WHY IT'S HARD</a:t>
            </a:r>
          </a:p>
        </p:txBody>
      </p:sp>
      <p:sp>
        <p:nvSpPr>
          <p:cNvPr id="16" name="Rectangle 15"/>
          <p:cNvSpPr/>
          <p:nvPr/>
        </p:nvSpPr>
        <p:spPr>
          <a:xfrm>
            <a:off x="6493828" y="1828800"/>
            <a:ext cx="5330952" cy="1389888"/>
          </a:xfrm>
          <a:prstGeom prst="rect">
            <a:avLst/>
          </a:prstGeom>
          <a:solidFill>
            <a:srgbClr val="FFFFFF"/>
          </a:solidFill>
          <a:ln w="12700">
            <a:solidFill>
              <a:srgbClr val="D0D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493828" y="1828800"/>
            <a:ext cx="5330952" cy="329184"/>
          </a:xfrm>
          <a:prstGeom prst="rect">
            <a:avLst/>
          </a:prstGeom>
          <a:solidFill>
            <a:srgbClr val="E8ED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93828" y="1828800"/>
            <a:ext cx="64008" cy="138988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658420" y="1883664"/>
            <a:ext cx="411480" cy="338554"/>
          </a:xfrm>
          <a:prstGeom prst="rect">
            <a:avLst/>
          </a:prstGeom>
          <a:noFill/>
        </p:spPr>
        <p:txBody>
          <a:bodyPr wrap="square">
            <a:spAutoFit/>
          </a:bodyPr>
          <a:lstStyle/>
          <a:p>
            <a:pPr algn="l"/>
            <a:r>
              <a:rPr sz="1600" b="1">
                <a:solidFill>
                  <a:srgbClr val="1E2761"/>
                </a:solidFill>
                <a:latin typeface="Calibri"/>
              </a:rPr>
              <a:t>01</a:t>
            </a:r>
          </a:p>
        </p:txBody>
      </p:sp>
      <p:sp>
        <p:nvSpPr>
          <p:cNvPr id="20" name="TextBox 19"/>
          <p:cNvSpPr txBox="1"/>
          <p:nvPr/>
        </p:nvSpPr>
        <p:spPr>
          <a:xfrm>
            <a:off x="7115620" y="1901953"/>
            <a:ext cx="4526280" cy="284693"/>
          </a:xfrm>
          <a:prstGeom prst="rect">
            <a:avLst/>
          </a:prstGeom>
          <a:noFill/>
        </p:spPr>
        <p:txBody>
          <a:bodyPr wrap="square">
            <a:spAutoFit/>
          </a:bodyPr>
          <a:lstStyle/>
          <a:p>
            <a:pPr algn="l"/>
            <a:r>
              <a:rPr sz="1250" b="1">
                <a:solidFill>
                  <a:srgbClr val="1A1A2E"/>
                </a:solidFill>
                <a:latin typeface="Calibri"/>
              </a:rPr>
              <a:t>Semantic Gap</a:t>
            </a:r>
          </a:p>
        </p:txBody>
      </p:sp>
      <p:sp>
        <p:nvSpPr>
          <p:cNvPr id="21" name="TextBox 20"/>
          <p:cNvSpPr txBox="1"/>
          <p:nvPr/>
        </p:nvSpPr>
        <p:spPr>
          <a:xfrm>
            <a:off x="6658420" y="2267712"/>
            <a:ext cx="4983480" cy="400110"/>
          </a:xfrm>
          <a:prstGeom prst="rect">
            <a:avLst/>
          </a:prstGeom>
          <a:noFill/>
        </p:spPr>
        <p:txBody>
          <a:bodyPr wrap="square">
            <a:spAutoFit/>
          </a:bodyPr>
          <a:lstStyle/>
          <a:p>
            <a:pPr algn="l"/>
            <a:r>
              <a:rPr sz="1000">
                <a:solidFill>
                  <a:srgbClr val="444466"/>
                </a:solidFill>
                <a:latin typeface="Calibri"/>
              </a:rPr>
              <a:t>User asks "speed up vector search" — book explains "approximate nearest neighbour retrieval". No shared keywords, same concept.</a:t>
            </a:r>
          </a:p>
        </p:txBody>
      </p:sp>
      <p:sp>
        <p:nvSpPr>
          <p:cNvPr id="22" name="Rectangle 21"/>
          <p:cNvSpPr/>
          <p:nvPr/>
        </p:nvSpPr>
        <p:spPr>
          <a:xfrm>
            <a:off x="6493828" y="3337560"/>
            <a:ext cx="5330952" cy="1389888"/>
          </a:xfrm>
          <a:prstGeom prst="rect">
            <a:avLst/>
          </a:prstGeom>
          <a:solidFill>
            <a:srgbClr val="FFFFFF"/>
          </a:solidFill>
          <a:ln w="12700">
            <a:solidFill>
              <a:srgbClr val="D0D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493828" y="3337560"/>
            <a:ext cx="5330952" cy="329184"/>
          </a:xfrm>
          <a:prstGeom prst="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6493828" y="3337560"/>
            <a:ext cx="64008" cy="1389888"/>
          </a:xfrm>
          <a:prstGeom prst="rect">
            <a:avLst/>
          </a:prstGeom>
          <a:solidFill>
            <a:srgbClr val="7C5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658420" y="3392424"/>
            <a:ext cx="411480" cy="338554"/>
          </a:xfrm>
          <a:prstGeom prst="rect">
            <a:avLst/>
          </a:prstGeom>
          <a:noFill/>
        </p:spPr>
        <p:txBody>
          <a:bodyPr wrap="square">
            <a:spAutoFit/>
          </a:bodyPr>
          <a:lstStyle/>
          <a:p>
            <a:pPr algn="l"/>
            <a:r>
              <a:rPr sz="1600" b="1">
                <a:solidFill>
                  <a:srgbClr val="7C5CBF"/>
                </a:solidFill>
                <a:latin typeface="Calibri"/>
              </a:rPr>
              <a:t>02</a:t>
            </a:r>
          </a:p>
        </p:txBody>
      </p:sp>
      <p:sp>
        <p:nvSpPr>
          <p:cNvPr id="26" name="TextBox 25"/>
          <p:cNvSpPr txBox="1"/>
          <p:nvPr/>
        </p:nvSpPr>
        <p:spPr>
          <a:xfrm>
            <a:off x="7115620" y="3410713"/>
            <a:ext cx="4526280" cy="284693"/>
          </a:xfrm>
          <a:prstGeom prst="rect">
            <a:avLst/>
          </a:prstGeom>
          <a:noFill/>
        </p:spPr>
        <p:txBody>
          <a:bodyPr wrap="square">
            <a:spAutoFit/>
          </a:bodyPr>
          <a:lstStyle/>
          <a:p>
            <a:pPr algn="l"/>
            <a:r>
              <a:rPr sz="1250" b="1">
                <a:solidFill>
                  <a:srgbClr val="1A1A2E"/>
                </a:solidFill>
                <a:latin typeface="Calibri"/>
              </a:rPr>
              <a:t>Heterogeneous Sources</a:t>
            </a:r>
          </a:p>
        </p:txBody>
      </p:sp>
      <p:sp>
        <p:nvSpPr>
          <p:cNvPr id="27" name="TextBox 26"/>
          <p:cNvSpPr txBox="1"/>
          <p:nvPr/>
        </p:nvSpPr>
        <p:spPr>
          <a:xfrm>
            <a:off x="6658420" y="3776472"/>
            <a:ext cx="4983480" cy="400110"/>
          </a:xfrm>
          <a:prstGeom prst="rect">
            <a:avLst/>
          </a:prstGeom>
          <a:noFill/>
        </p:spPr>
        <p:txBody>
          <a:bodyPr wrap="square">
            <a:spAutoFit/>
          </a:bodyPr>
          <a:lstStyle/>
          <a:p>
            <a:pPr algn="l"/>
            <a:r>
              <a:rPr sz="1000">
                <a:solidFill>
                  <a:srgbClr val="444466"/>
                </a:solidFill>
                <a:latin typeface="Calibri"/>
              </a:rPr>
              <a:t>PDFs with complex layouts and plain-text transcripts require different loaders and chunking strategies.</a:t>
            </a:r>
          </a:p>
        </p:txBody>
      </p:sp>
      <p:sp>
        <p:nvSpPr>
          <p:cNvPr id="28" name="Rectangle 27"/>
          <p:cNvSpPr/>
          <p:nvPr/>
        </p:nvSpPr>
        <p:spPr>
          <a:xfrm>
            <a:off x="6493828" y="4846320"/>
            <a:ext cx="5330952" cy="1389888"/>
          </a:xfrm>
          <a:prstGeom prst="rect">
            <a:avLst/>
          </a:prstGeom>
          <a:solidFill>
            <a:srgbClr val="FFFFFF"/>
          </a:solidFill>
          <a:ln w="12700">
            <a:solidFill>
              <a:srgbClr val="D0D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493828" y="4846320"/>
            <a:ext cx="5330952" cy="329184"/>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493828" y="4846320"/>
            <a:ext cx="64008" cy="1389888"/>
          </a:xfrm>
          <a:prstGeom prst="rect">
            <a:avLst/>
          </a:prstGeom>
          <a:solidFill>
            <a:srgbClr val="1E7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658420" y="4901183"/>
            <a:ext cx="411480" cy="338554"/>
          </a:xfrm>
          <a:prstGeom prst="rect">
            <a:avLst/>
          </a:prstGeom>
          <a:noFill/>
        </p:spPr>
        <p:txBody>
          <a:bodyPr wrap="square">
            <a:spAutoFit/>
          </a:bodyPr>
          <a:lstStyle/>
          <a:p>
            <a:pPr algn="l"/>
            <a:r>
              <a:rPr sz="1600" b="1">
                <a:solidFill>
                  <a:srgbClr val="1E7A4E"/>
                </a:solidFill>
                <a:latin typeface="Calibri"/>
              </a:rPr>
              <a:t>03</a:t>
            </a:r>
          </a:p>
        </p:txBody>
      </p:sp>
      <p:sp>
        <p:nvSpPr>
          <p:cNvPr id="32" name="TextBox 31"/>
          <p:cNvSpPr txBox="1"/>
          <p:nvPr/>
        </p:nvSpPr>
        <p:spPr>
          <a:xfrm>
            <a:off x="7115620" y="4919473"/>
            <a:ext cx="4526280" cy="284693"/>
          </a:xfrm>
          <a:prstGeom prst="rect">
            <a:avLst/>
          </a:prstGeom>
          <a:noFill/>
        </p:spPr>
        <p:txBody>
          <a:bodyPr wrap="square">
            <a:spAutoFit/>
          </a:bodyPr>
          <a:lstStyle/>
          <a:p>
            <a:pPr algn="l"/>
            <a:r>
              <a:rPr sz="1250" b="1">
                <a:solidFill>
                  <a:srgbClr val="1A1A2E"/>
                </a:solidFill>
                <a:latin typeface="Calibri"/>
              </a:rPr>
              <a:t>Multi-turn Memory</a:t>
            </a:r>
          </a:p>
        </p:txBody>
      </p:sp>
      <p:sp>
        <p:nvSpPr>
          <p:cNvPr id="33" name="TextBox 32"/>
          <p:cNvSpPr txBox="1"/>
          <p:nvPr/>
        </p:nvSpPr>
        <p:spPr>
          <a:xfrm>
            <a:off x="6658420" y="5285231"/>
            <a:ext cx="4983480" cy="400110"/>
          </a:xfrm>
          <a:prstGeom prst="rect">
            <a:avLst/>
          </a:prstGeom>
          <a:noFill/>
        </p:spPr>
        <p:txBody>
          <a:bodyPr wrap="square">
            <a:spAutoFit/>
          </a:bodyPr>
          <a:lstStyle/>
          <a:p>
            <a:pPr algn="l"/>
            <a:r>
              <a:rPr sz="1000">
                <a:solidFill>
                  <a:srgbClr val="444466"/>
                </a:solidFill>
                <a:latin typeface="Calibri"/>
              </a:rPr>
              <a:t>A follow-up like "show me code for that" requires full context from the prior conversation turn.</a:t>
            </a:r>
          </a:p>
        </p:txBody>
      </p:sp>
      <p:sp>
        <p:nvSpPr>
          <p:cNvPr id="34" name="Rectangle 33"/>
          <p:cNvSpPr/>
          <p:nvPr/>
        </p:nvSpPr>
        <p:spPr>
          <a:xfrm>
            <a:off x="1588" y="6601968"/>
            <a:ext cx="12188952" cy="256032"/>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8788" y="6629400"/>
            <a:ext cx="10972800" cy="215444"/>
          </a:xfrm>
          <a:prstGeom prst="rect">
            <a:avLst/>
          </a:prstGeom>
          <a:noFill/>
        </p:spPr>
        <p:txBody>
          <a:bodyPr wrap="square">
            <a:spAutoFit/>
          </a:bodyPr>
          <a:lstStyle/>
          <a:p>
            <a:pPr algn="l"/>
            <a:r>
              <a:rPr sz="800">
                <a:solidFill>
                  <a:srgbClr val="8AAEF8"/>
                </a:solidFill>
                <a:latin typeface="Calibri"/>
              </a:rPr>
              <a:t>RAG Pipeline for AI/ML Knowledge  .  POC</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588" y="0"/>
            <a:ext cx="12188952" cy="91440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8788" y="137161"/>
            <a:ext cx="4572000" cy="246221"/>
          </a:xfrm>
          <a:prstGeom prst="rect">
            <a:avLst/>
          </a:prstGeom>
          <a:noFill/>
        </p:spPr>
        <p:txBody>
          <a:bodyPr wrap="square">
            <a:spAutoFit/>
          </a:bodyPr>
          <a:lstStyle/>
          <a:p>
            <a:pPr algn="l"/>
            <a:r>
              <a:rPr sz="1000" b="1">
                <a:solidFill>
                  <a:srgbClr val="8AAEF8"/>
                </a:solidFill>
                <a:latin typeface="Calibri"/>
              </a:rPr>
              <a:t>SYSTEM DESIGN</a:t>
            </a:r>
          </a:p>
        </p:txBody>
      </p:sp>
      <p:sp>
        <p:nvSpPr>
          <p:cNvPr id="5" name="TextBox 4"/>
          <p:cNvSpPr txBox="1"/>
          <p:nvPr/>
        </p:nvSpPr>
        <p:spPr>
          <a:xfrm>
            <a:off x="458788" y="438912"/>
            <a:ext cx="9144000" cy="400110"/>
          </a:xfrm>
          <a:prstGeom prst="rect">
            <a:avLst/>
          </a:prstGeom>
          <a:noFill/>
        </p:spPr>
        <p:txBody>
          <a:bodyPr wrap="square">
            <a:spAutoFit/>
          </a:bodyPr>
          <a:lstStyle/>
          <a:p>
            <a:pPr algn="l"/>
            <a:r>
              <a:rPr sz="2000" b="1">
                <a:solidFill>
                  <a:srgbClr val="FFFFFF"/>
                </a:solidFill>
                <a:latin typeface="Calibri"/>
              </a:rPr>
              <a:t>RAG Pipeline — end-to-end architecture</a:t>
            </a:r>
          </a:p>
        </p:txBody>
      </p:sp>
      <p:sp>
        <p:nvSpPr>
          <p:cNvPr id="6" name="Rectangle 5"/>
          <p:cNvSpPr/>
          <p:nvPr/>
        </p:nvSpPr>
        <p:spPr>
          <a:xfrm>
            <a:off x="367348" y="1024128"/>
            <a:ext cx="11457432" cy="868680"/>
          </a:xfrm>
          <a:prstGeom prst="rect">
            <a:avLst/>
          </a:prstGeom>
          <a:solidFill>
            <a:srgbClr val="FFFFFF"/>
          </a:solidFill>
          <a:ln w="12700">
            <a:solidFill>
              <a:srgbClr val="D0D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67348" y="1024128"/>
            <a:ext cx="1325880" cy="868680"/>
          </a:xfrm>
          <a:prstGeom prst="rect">
            <a:avLst/>
          </a:prstGeom>
          <a:solidFill>
            <a:srgbClr val="E8ED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7348" y="1024128"/>
            <a:ext cx="64008" cy="86868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04508" y="1257301"/>
            <a:ext cx="1097280" cy="238527"/>
          </a:xfrm>
          <a:prstGeom prst="rect">
            <a:avLst/>
          </a:prstGeom>
          <a:noFill/>
        </p:spPr>
        <p:txBody>
          <a:bodyPr wrap="square">
            <a:spAutoFit/>
          </a:bodyPr>
          <a:lstStyle/>
          <a:p>
            <a:pPr algn="l"/>
            <a:r>
              <a:rPr sz="950" b="1">
                <a:solidFill>
                  <a:srgbClr val="1E2761"/>
                </a:solidFill>
                <a:latin typeface="Calibri"/>
              </a:rPr>
              <a:t>Ingestion</a:t>
            </a:r>
          </a:p>
        </p:txBody>
      </p:sp>
      <p:sp>
        <p:nvSpPr>
          <p:cNvPr id="10" name="Rectangle 9"/>
          <p:cNvSpPr/>
          <p:nvPr/>
        </p:nvSpPr>
        <p:spPr>
          <a:xfrm>
            <a:off x="504508" y="1531620"/>
            <a:ext cx="749808" cy="20116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22795" y="1549909"/>
            <a:ext cx="731520" cy="207749"/>
          </a:xfrm>
          <a:prstGeom prst="rect">
            <a:avLst/>
          </a:prstGeom>
          <a:noFill/>
        </p:spPr>
        <p:txBody>
          <a:bodyPr wrap="square">
            <a:spAutoFit/>
          </a:bodyPr>
          <a:lstStyle/>
          <a:p>
            <a:pPr algn="ctr"/>
            <a:r>
              <a:rPr sz="750" b="1">
                <a:solidFill>
                  <a:srgbClr val="FFFFFF"/>
                </a:solidFill>
                <a:latin typeface="Calibri"/>
              </a:rPr>
              <a:t>WRITE</a:t>
            </a:r>
          </a:p>
        </p:txBody>
      </p:sp>
      <p:sp>
        <p:nvSpPr>
          <p:cNvPr id="12" name="Rectangle 11"/>
          <p:cNvSpPr/>
          <p:nvPr/>
        </p:nvSpPr>
        <p:spPr>
          <a:xfrm>
            <a:off x="1876107" y="1133856"/>
            <a:ext cx="1536192" cy="649224"/>
          </a:xfrm>
          <a:prstGeom prst="rect">
            <a:avLst/>
          </a:prstGeom>
          <a:solidFill>
            <a:srgbClr val="E8EDFB"/>
          </a:solidFill>
          <a:ln w="9525">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967548" y="1188721"/>
            <a:ext cx="1371600" cy="238527"/>
          </a:xfrm>
          <a:prstGeom prst="rect">
            <a:avLst/>
          </a:prstGeom>
          <a:noFill/>
        </p:spPr>
        <p:txBody>
          <a:bodyPr wrap="square">
            <a:spAutoFit/>
          </a:bodyPr>
          <a:lstStyle/>
          <a:p>
            <a:pPr algn="l"/>
            <a:r>
              <a:rPr sz="950" b="1">
                <a:solidFill>
                  <a:srgbClr val="1E2761"/>
                </a:solidFill>
                <a:latin typeface="Calibri"/>
              </a:rPr>
              <a:t>PDFs</a:t>
            </a:r>
          </a:p>
        </p:txBody>
      </p:sp>
      <p:sp>
        <p:nvSpPr>
          <p:cNvPr id="14" name="TextBox 13"/>
          <p:cNvSpPr txBox="1"/>
          <p:nvPr/>
        </p:nvSpPr>
        <p:spPr>
          <a:xfrm>
            <a:off x="1967548" y="1463040"/>
            <a:ext cx="1371600" cy="347472"/>
          </a:xfrm>
          <a:prstGeom prst="rect">
            <a:avLst/>
          </a:prstGeom>
          <a:noFill/>
        </p:spPr>
        <p:txBody>
          <a:bodyPr wrap="square">
            <a:spAutoFit/>
          </a:bodyPr>
          <a:lstStyle/>
          <a:p>
            <a:pPr algn="l"/>
            <a:r>
              <a:rPr sz="800">
                <a:solidFill>
                  <a:srgbClr val="5A6A9A"/>
                </a:solidFill>
                <a:latin typeface="Calibri"/>
              </a:rPr>
              <a:t>PyMuPDF
DirectoryLoader</a:t>
            </a:r>
          </a:p>
        </p:txBody>
      </p:sp>
      <p:sp>
        <p:nvSpPr>
          <p:cNvPr id="15" name="TextBox 14"/>
          <p:cNvSpPr txBox="1"/>
          <p:nvPr/>
        </p:nvSpPr>
        <p:spPr>
          <a:xfrm>
            <a:off x="3467163" y="1312164"/>
            <a:ext cx="201168" cy="292388"/>
          </a:xfrm>
          <a:prstGeom prst="rect">
            <a:avLst/>
          </a:prstGeom>
          <a:noFill/>
        </p:spPr>
        <p:txBody>
          <a:bodyPr wrap="square">
            <a:spAutoFit/>
          </a:bodyPr>
          <a:lstStyle/>
          <a:p>
            <a:pPr algn="l"/>
            <a:r>
              <a:rPr sz="1300" b="1">
                <a:solidFill>
                  <a:srgbClr val="9AAABF"/>
                </a:solidFill>
                <a:latin typeface="Calibri"/>
              </a:rPr>
              <a:t>&gt;</a:t>
            </a:r>
          </a:p>
        </p:txBody>
      </p:sp>
      <p:sp>
        <p:nvSpPr>
          <p:cNvPr id="16" name="Rectangle 15"/>
          <p:cNvSpPr/>
          <p:nvPr/>
        </p:nvSpPr>
        <p:spPr>
          <a:xfrm>
            <a:off x="3723195" y="1133856"/>
            <a:ext cx="1536192" cy="649224"/>
          </a:xfrm>
          <a:prstGeom prst="rect">
            <a:avLst/>
          </a:prstGeom>
          <a:solidFill>
            <a:srgbClr val="E8EDFB"/>
          </a:solidFill>
          <a:ln w="9525">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814635" y="1188721"/>
            <a:ext cx="1371600" cy="238527"/>
          </a:xfrm>
          <a:prstGeom prst="rect">
            <a:avLst/>
          </a:prstGeom>
          <a:noFill/>
        </p:spPr>
        <p:txBody>
          <a:bodyPr wrap="square">
            <a:spAutoFit/>
          </a:bodyPr>
          <a:lstStyle/>
          <a:p>
            <a:pPr algn="l"/>
            <a:r>
              <a:rPr sz="950" b="1">
                <a:solidFill>
                  <a:srgbClr val="1E2761"/>
                </a:solidFill>
                <a:latin typeface="Calibri"/>
              </a:rPr>
              <a:t>Transcripts</a:t>
            </a:r>
          </a:p>
        </p:txBody>
      </p:sp>
      <p:sp>
        <p:nvSpPr>
          <p:cNvPr id="18" name="TextBox 17"/>
          <p:cNvSpPr txBox="1"/>
          <p:nvPr/>
        </p:nvSpPr>
        <p:spPr>
          <a:xfrm>
            <a:off x="3814635" y="1463040"/>
            <a:ext cx="1371600" cy="215444"/>
          </a:xfrm>
          <a:prstGeom prst="rect">
            <a:avLst/>
          </a:prstGeom>
          <a:noFill/>
        </p:spPr>
        <p:txBody>
          <a:bodyPr wrap="square">
            <a:spAutoFit/>
          </a:bodyPr>
          <a:lstStyle/>
          <a:p>
            <a:pPr algn="l"/>
            <a:r>
              <a:rPr sz="800">
                <a:solidFill>
                  <a:srgbClr val="5A6A9A"/>
                </a:solidFill>
                <a:latin typeface="Calibri"/>
              </a:rPr>
              <a:t>TextLoader</a:t>
            </a:r>
          </a:p>
        </p:txBody>
      </p:sp>
      <p:sp>
        <p:nvSpPr>
          <p:cNvPr id="19" name="TextBox 18"/>
          <p:cNvSpPr txBox="1"/>
          <p:nvPr/>
        </p:nvSpPr>
        <p:spPr>
          <a:xfrm>
            <a:off x="5314252" y="1312164"/>
            <a:ext cx="201168" cy="292388"/>
          </a:xfrm>
          <a:prstGeom prst="rect">
            <a:avLst/>
          </a:prstGeom>
          <a:noFill/>
        </p:spPr>
        <p:txBody>
          <a:bodyPr wrap="square">
            <a:spAutoFit/>
          </a:bodyPr>
          <a:lstStyle/>
          <a:p>
            <a:pPr algn="l"/>
            <a:r>
              <a:rPr sz="1300" b="1">
                <a:solidFill>
                  <a:srgbClr val="9AAABF"/>
                </a:solidFill>
                <a:latin typeface="Calibri"/>
              </a:rPr>
              <a:t>&gt;</a:t>
            </a:r>
          </a:p>
        </p:txBody>
      </p:sp>
      <p:sp>
        <p:nvSpPr>
          <p:cNvPr id="20" name="Rectangle 19"/>
          <p:cNvSpPr/>
          <p:nvPr/>
        </p:nvSpPr>
        <p:spPr>
          <a:xfrm>
            <a:off x="5570283" y="1133856"/>
            <a:ext cx="1536192" cy="649224"/>
          </a:xfrm>
          <a:prstGeom prst="rect">
            <a:avLst/>
          </a:prstGeom>
          <a:solidFill>
            <a:srgbClr val="E8EDFB"/>
          </a:solidFill>
          <a:ln w="9525">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1723" y="1188721"/>
            <a:ext cx="1371600" cy="238527"/>
          </a:xfrm>
          <a:prstGeom prst="rect">
            <a:avLst/>
          </a:prstGeom>
          <a:noFill/>
        </p:spPr>
        <p:txBody>
          <a:bodyPr wrap="square">
            <a:spAutoFit/>
          </a:bodyPr>
          <a:lstStyle/>
          <a:p>
            <a:pPr algn="l"/>
            <a:r>
              <a:rPr sz="950" b="1">
                <a:solidFill>
                  <a:srgbClr val="1E2761"/>
                </a:solidFill>
                <a:latin typeface="Calibri"/>
              </a:rPr>
              <a:t>Chunker</a:t>
            </a:r>
          </a:p>
        </p:txBody>
      </p:sp>
      <p:sp>
        <p:nvSpPr>
          <p:cNvPr id="22" name="TextBox 21"/>
          <p:cNvSpPr txBox="1"/>
          <p:nvPr/>
        </p:nvSpPr>
        <p:spPr>
          <a:xfrm>
            <a:off x="5661723" y="1463040"/>
            <a:ext cx="1371600" cy="215444"/>
          </a:xfrm>
          <a:prstGeom prst="rect">
            <a:avLst/>
          </a:prstGeom>
          <a:noFill/>
        </p:spPr>
        <p:txBody>
          <a:bodyPr wrap="square">
            <a:spAutoFit/>
          </a:bodyPr>
          <a:lstStyle/>
          <a:p>
            <a:pPr algn="l"/>
            <a:r>
              <a:rPr lang="en-US" sz="800" dirty="0">
                <a:solidFill>
                  <a:srgbClr val="5A6A9A"/>
                </a:solidFill>
                <a:latin typeface="Calibri"/>
              </a:rPr>
              <a:t>Recursive Text Splitter</a:t>
            </a:r>
            <a:endParaRPr sz="800" dirty="0">
              <a:solidFill>
                <a:srgbClr val="5A6A9A"/>
              </a:solidFill>
              <a:latin typeface="Calibri"/>
            </a:endParaRPr>
          </a:p>
        </p:txBody>
      </p:sp>
      <p:sp>
        <p:nvSpPr>
          <p:cNvPr id="23" name="TextBox 22"/>
          <p:cNvSpPr txBox="1"/>
          <p:nvPr/>
        </p:nvSpPr>
        <p:spPr>
          <a:xfrm>
            <a:off x="7161339" y="1312164"/>
            <a:ext cx="201168" cy="292388"/>
          </a:xfrm>
          <a:prstGeom prst="rect">
            <a:avLst/>
          </a:prstGeom>
          <a:noFill/>
        </p:spPr>
        <p:txBody>
          <a:bodyPr wrap="square">
            <a:spAutoFit/>
          </a:bodyPr>
          <a:lstStyle/>
          <a:p>
            <a:pPr algn="l"/>
            <a:r>
              <a:rPr sz="1300" b="1">
                <a:solidFill>
                  <a:srgbClr val="9AAABF"/>
                </a:solidFill>
                <a:latin typeface="Calibri"/>
              </a:rPr>
              <a:t>&gt;</a:t>
            </a:r>
          </a:p>
        </p:txBody>
      </p:sp>
      <p:sp>
        <p:nvSpPr>
          <p:cNvPr id="24" name="Rectangle 23"/>
          <p:cNvSpPr/>
          <p:nvPr/>
        </p:nvSpPr>
        <p:spPr>
          <a:xfrm>
            <a:off x="7417371" y="1133856"/>
            <a:ext cx="1536192" cy="649224"/>
          </a:xfrm>
          <a:prstGeom prst="rect">
            <a:avLst/>
          </a:prstGeom>
          <a:solidFill>
            <a:srgbClr val="E8EDFB"/>
          </a:solidFill>
          <a:ln w="9525">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508811" y="1188721"/>
            <a:ext cx="1371600" cy="238527"/>
          </a:xfrm>
          <a:prstGeom prst="rect">
            <a:avLst/>
          </a:prstGeom>
          <a:noFill/>
        </p:spPr>
        <p:txBody>
          <a:bodyPr wrap="square">
            <a:spAutoFit/>
          </a:bodyPr>
          <a:lstStyle/>
          <a:p>
            <a:pPr algn="l"/>
            <a:r>
              <a:rPr sz="950" b="1">
                <a:solidFill>
                  <a:srgbClr val="1E2761"/>
                </a:solidFill>
                <a:latin typeface="Calibri"/>
              </a:rPr>
              <a:t>LLM Enricher</a:t>
            </a:r>
          </a:p>
        </p:txBody>
      </p:sp>
      <p:sp>
        <p:nvSpPr>
          <p:cNvPr id="26" name="TextBox 25"/>
          <p:cNvSpPr txBox="1"/>
          <p:nvPr/>
        </p:nvSpPr>
        <p:spPr>
          <a:xfrm>
            <a:off x="7508811" y="1463040"/>
            <a:ext cx="1371600" cy="347472"/>
          </a:xfrm>
          <a:prstGeom prst="rect">
            <a:avLst/>
          </a:prstGeom>
          <a:noFill/>
        </p:spPr>
        <p:txBody>
          <a:bodyPr wrap="square">
            <a:spAutoFit/>
          </a:bodyPr>
          <a:lstStyle/>
          <a:p>
            <a:pPr algn="l"/>
            <a:r>
              <a:rPr lang="en-US" sz="800" dirty="0">
                <a:solidFill>
                  <a:srgbClr val="5A6A9A"/>
                </a:solidFill>
                <a:latin typeface="Calibri"/>
              </a:rPr>
              <a:t>OpenAI GPT 4o-mini</a:t>
            </a:r>
            <a:r>
              <a:rPr sz="800" dirty="0">
                <a:solidFill>
                  <a:srgbClr val="5A6A9A"/>
                </a:solidFill>
                <a:latin typeface="Calibri"/>
              </a:rPr>
              <a:t>
topics/difficulty</a:t>
            </a:r>
            <a:r>
              <a:rPr lang="en-US" sz="800" dirty="0">
                <a:solidFill>
                  <a:srgbClr val="5A6A9A"/>
                </a:solidFill>
                <a:latin typeface="Calibri"/>
              </a:rPr>
              <a:t>/tags</a:t>
            </a:r>
            <a:endParaRPr sz="800" dirty="0">
              <a:solidFill>
                <a:srgbClr val="5A6A9A"/>
              </a:solidFill>
              <a:latin typeface="Calibri"/>
            </a:endParaRPr>
          </a:p>
        </p:txBody>
      </p:sp>
      <p:sp>
        <p:nvSpPr>
          <p:cNvPr id="27" name="TextBox 26"/>
          <p:cNvSpPr txBox="1"/>
          <p:nvPr/>
        </p:nvSpPr>
        <p:spPr>
          <a:xfrm>
            <a:off x="9008428" y="1312164"/>
            <a:ext cx="201168" cy="292388"/>
          </a:xfrm>
          <a:prstGeom prst="rect">
            <a:avLst/>
          </a:prstGeom>
          <a:noFill/>
        </p:spPr>
        <p:txBody>
          <a:bodyPr wrap="square">
            <a:spAutoFit/>
          </a:bodyPr>
          <a:lstStyle/>
          <a:p>
            <a:pPr algn="l"/>
            <a:r>
              <a:rPr sz="1300" b="1">
                <a:solidFill>
                  <a:srgbClr val="9AAABF"/>
                </a:solidFill>
                <a:latin typeface="Calibri"/>
              </a:rPr>
              <a:t>&gt;</a:t>
            </a:r>
          </a:p>
        </p:txBody>
      </p:sp>
      <p:sp>
        <p:nvSpPr>
          <p:cNvPr id="28" name="Rectangle 27"/>
          <p:cNvSpPr/>
          <p:nvPr/>
        </p:nvSpPr>
        <p:spPr>
          <a:xfrm>
            <a:off x="9264460" y="1133856"/>
            <a:ext cx="1536192" cy="649224"/>
          </a:xfrm>
          <a:prstGeom prst="rect">
            <a:avLst/>
          </a:prstGeom>
          <a:solidFill>
            <a:srgbClr val="E8EDFB"/>
          </a:solidFill>
          <a:ln w="9525">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355900" y="1188721"/>
            <a:ext cx="1371600" cy="238527"/>
          </a:xfrm>
          <a:prstGeom prst="rect">
            <a:avLst/>
          </a:prstGeom>
          <a:noFill/>
        </p:spPr>
        <p:txBody>
          <a:bodyPr wrap="square">
            <a:spAutoFit/>
          </a:bodyPr>
          <a:lstStyle/>
          <a:p>
            <a:pPr algn="l"/>
            <a:r>
              <a:rPr sz="950" b="1">
                <a:solidFill>
                  <a:srgbClr val="1E2761"/>
                </a:solidFill>
                <a:latin typeface="Calibri"/>
              </a:rPr>
              <a:t>FAISS Index</a:t>
            </a:r>
          </a:p>
        </p:txBody>
      </p:sp>
      <p:sp>
        <p:nvSpPr>
          <p:cNvPr id="30" name="TextBox 29"/>
          <p:cNvSpPr txBox="1"/>
          <p:nvPr/>
        </p:nvSpPr>
        <p:spPr>
          <a:xfrm>
            <a:off x="9355900" y="1463040"/>
            <a:ext cx="1371600" cy="347472"/>
          </a:xfrm>
          <a:prstGeom prst="rect">
            <a:avLst/>
          </a:prstGeom>
          <a:noFill/>
        </p:spPr>
        <p:txBody>
          <a:bodyPr wrap="square">
            <a:spAutoFit/>
          </a:bodyPr>
          <a:lstStyle/>
          <a:p>
            <a:pPr algn="l"/>
            <a:r>
              <a:rPr lang="en-US" sz="800" dirty="0">
                <a:solidFill>
                  <a:srgbClr val="5A6A9A"/>
                </a:solidFill>
                <a:latin typeface="Calibri"/>
              </a:rPr>
              <a:t>Hugging face embeddings </a:t>
            </a:r>
            <a:r>
              <a:rPr sz="800" dirty="0">
                <a:solidFill>
                  <a:srgbClr val="5A6A9A"/>
                </a:solidFill>
                <a:latin typeface="Calibri"/>
              </a:rPr>
              <a:t>
</a:t>
            </a:r>
            <a:r>
              <a:rPr lang="en-US" sz="800" dirty="0">
                <a:solidFill>
                  <a:srgbClr val="5A6A9A"/>
                </a:solidFill>
                <a:latin typeface="Calibri"/>
              </a:rPr>
              <a:t>Index Flat L2</a:t>
            </a:r>
            <a:endParaRPr sz="800" dirty="0">
              <a:solidFill>
                <a:srgbClr val="5A6A9A"/>
              </a:solidFill>
              <a:latin typeface="Calibri"/>
            </a:endParaRPr>
          </a:p>
        </p:txBody>
      </p:sp>
      <p:sp>
        <p:nvSpPr>
          <p:cNvPr id="31" name="TextBox 30"/>
          <p:cNvSpPr txBox="1"/>
          <p:nvPr/>
        </p:nvSpPr>
        <p:spPr>
          <a:xfrm>
            <a:off x="5945188" y="1920240"/>
            <a:ext cx="365760" cy="292388"/>
          </a:xfrm>
          <a:prstGeom prst="rect">
            <a:avLst/>
          </a:prstGeom>
          <a:noFill/>
        </p:spPr>
        <p:txBody>
          <a:bodyPr wrap="square">
            <a:spAutoFit/>
          </a:bodyPr>
          <a:lstStyle/>
          <a:p>
            <a:pPr algn="l"/>
            <a:r>
              <a:rPr sz="1300" b="1">
                <a:solidFill>
                  <a:srgbClr val="9AAABF"/>
                </a:solidFill>
                <a:latin typeface="Calibri"/>
              </a:rPr>
              <a:t>v</a:t>
            </a:r>
          </a:p>
        </p:txBody>
      </p:sp>
      <p:sp>
        <p:nvSpPr>
          <p:cNvPr id="32" name="Rectangle 31"/>
          <p:cNvSpPr/>
          <p:nvPr/>
        </p:nvSpPr>
        <p:spPr>
          <a:xfrm>
            <a:off x="367348" y="2176272"/>
            <a:ext cx="11457432" cy="868680"/>
          </a:xfrm>
          <a:prstGeom prst="rect">
            <a:avLst/>
          </a:prstGeom>
          <a:solidFill>
            <a:srgbClr val="FFFFFF"/>
          </a:solidFill>
          <a:ln w="12700">
            <a:solidFill>
              <a:srgbClr val="D0D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67348" y="2176272"/>
            <a:ext cx="1325880" cy="868680"/>
          </a:xfrm>
          <a:prstGeom prst="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367348" y="2176272"/>
            <a:ext cx="64008" cy="868680"/>
          </a:xfrm>
          <a:prstGeom prst="rect">
            <a:avLst/>
          </a:prstGeom>
          <a:solidFill>
            <a:srgbClr val="7C5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04508" y="2409445"/>
            <a:ext cx="1097280" cy="238527"/>
          </a:xfrm>
          <a:prstGeom prst="rect">
            <a:avLst/>
          </a:prstGeom>
          <a:noFill/>
        </p:spPr>
        <p:txBody>
          <a:bodyPr wrap="square">
            <a:spAutoFit/>
          </a:bodyPr>
          <a:lstStyle/>
          <a:p>
            <a:pPr algn="l"/>
            <a:r>
              <a:rPr sz="950" b="1">
                <a:solidFill>
                  <a:srgbClr val="7C5CBF"/>
                </a:solidFill>
                <a:latin typeface="Calibri"/>
              </a:rPr>
              <a:t>Retrieval</a:t>
            </a:r>
          </a:p>
        </p:txBody>
      </p:sp>
      <p:sp>
        <p:nvSpPr>
          <p:cNvPr id="36" name="Rectangle 35"/>
          <p:cNvSpPr/>
          <p:nvPr/>
        </p:nvSpPr>
        <p:spPr>
          <a:xfrm>
            <a:off x="504508" y="2683764"/>
            <a:ext cx="749808" cy="201168"/>
          </a:xfrm>
          <a:prstGeom prst="rect">
            <a:avLst/>
          </a:prstGeom>
          <a:solidFill>
            <a:srgbClr val="7C5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22795" y="2702053"/>
            <a:ext cx="731520" cy="207749"/>
          </a:xfrm>
          <a:prstGeom prst="rect">
            <a:avLst/>
          </a:prstGeom>
          <a:noFill/>
        </p:spPr>
        <p:txBody>
          <a:bodyPr wrap="square">
            <a:spAutoFit/>
          </a:bodyPr>
          <a:lstStyle/>
          <a:p>
            <a:pPr algn="ctr"/>
            <a:r>
              <a:rPr sz="750" b="1">
                <a:solidFill>
                  <a:srgbClr val="FFFFFF"/>
                </a:solidFill>
                <a:latin typeface="Calibri"/>
              </a:rPr>
              <a:t>QUERY</a:t>
            </a:r>
          </a:p>
        </p:txBody>
      </p:sp>
      <p:sp>
        <p:nvSpPr>
          <p:cNvPr id="38" name="Rectangle 37"/>
          <p:cNvSpPr/>
          <p:nvPr/>
        </p:nvSpPr>
        <p:spPr>
          <a:xfrm>
            <a:off x="1876107" y="2286000"/>
            <a:ext cx="1536192" cy="649224"/>
          </a:xfrm>
          <a:prstGeom prst="rect">
            <a:avLst/>
          </a:prstGeom>
          <a:solidFill>
            <a:srgbClr val="F0EBF9"/>
          </a:solidFill>
          <a:ln w="9525">
            <a:solidFill>
              <a:srgbClr val="7C5C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967548" y="2340865"/>
            <a:ext cx="1371600" cy="238527"/>
          </a:xfrm>
          <a:prstGeom prst="rect">
            <a:avLst/>
          </a:prstGeom>
          <a:noFill/>
        </p:spPr>
        <p:txBody>
          <a:bodyPr wrap="square">
            <a:spAutoFit/>
          </a:bodyPr>
          <a:lstStyle/>
          <a:p>
            <a:pPr algn="l"/>
            <a:r>
              <a:rPr sz="950" b="1">
                <a:solidFill>
                  <a:srgbClr val="7C5CBF"/>
                </a:solidFill>
                <a:latin typeface="Calibri"/>
              </a:rPr>
              <a:t>User Query</a:t>
            </a:r>
          </a:p>
        </p:txBody>
      </p:sp>
      <p:sp>
        <p:nvSpPr>
          <p:cNvPr id="40" name="TextBox 39"/>
          <p:cNvSpPr txBox="1"/>
          <p:nvPr/>
        </p:nvSpPr>
        <p:spPr>
          <a:xfrm>
            <a:off x="1967548" y="2615184"/>
            <a:ext cx="1371600" cy="347472"/>
          </a:xfrm>
          <a:prstGeom prst="rect">
            <a:avLst/>
          </a:prstGeom>
          <a:noFill/>
        </p:spPr>
        <p:txBody>
          <a:bodyPr wrap="square">
            <a:spAutoFit/>
          </a:bodyPr>
          <a:lstStyle/>
          <a:p>
            <a:pPr algn="l"/>
            <a:r>
              <a:rPr sz="800">
                <a:solidFill>
                  <a:srgbClr val="5A6A9A"/>
                </a:solidFill>
                <a:latin typeface="Calibri"/>
              </a:rPr>
              <a:t>Question
input</a:t>
            </a:r>
          </a:p>
        </p:txBody>
      </p:sp>
      <p:sp>
        <p:nvSpPr>
          <p:cNvPr id="41" name="TextBox 40"/>
          <p:cNvSpPr txBox="1"/>
          <p:nvPr/>
        </p:nvSpPr>
        <p:spPr>
          <a:xfrm>
            <a:off x="3467163" y="2464308"/>
            <a:ext cx="201168" cy="292388"/>
          </a:xfrm>
          <a:prstGeom prst="rect">
            <a:avLst/>
          </a:prstGeom>
          <a:noFill/>
        </p:spPr>
        <p:txBody>
          <a:bodyPr wrap="square">
            <a:spAutoFit/>
          </a:bodyPr>
          <a:lstStyle/>
          <a:p>
            <a:pPr algn="l"/>
            <a:r>
              <a:rPr sz="1300" b="1">
                <a:solidFill>
                  <a:srgbClr val="9AAABF"/>
                </a:solidFill>
                <a:latin typeface="Calibri"/>
              </a:rPr>
              <a:t>&gt;</a:t>
            </a:r>
          </a:p>
        </p:txBody>
      </p:sp>
      <p:sp>
        <p:nvSpPr>
          <p:cNvPr id="42" name="Rectangle 41"/>
          <p:cNvSpPr/>
          <p:nvPr/>
        </p:nvSpPr>
        <p:spPr>
          <a:xfrm>
            <a:off x="3723195" y="2286000"/>
            <a:ext cx="1536192" cy="649224"/>
          </a:xfrm>
          <a:prstGeom prst="rect">
            <a:avLst/>
          </a:prstGeom>
          <a:solidFill>
            <a:srgbClr val="F0EBF9"/>
          </a:solidFill>
          <a:ln w="9525">
            <a:solidFill>
              <a:srgbClr val="7C5C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814635" y="2340865"/>
            <a:ext cx="1371600" cy="238527"/>
          </a:xfrm>
          <a:prstGeom prst="rect">
            <a:avLst/>
          </a:prstGeom>
          <a:noFill/>
        </p:spPr>
        <p:txBody>
          <a:bodyPr wrap="square">
            <a:spAutoFit/>
          </a:bodyPr>
          <a:lstStyle/>
          <a:p>
            <a:pPr algn="l"/>
            <a:r>
              <a:rPr sz="950" b="1">
                <a:solidFill>
                  <a:srgbClr val="7C5CBF"/>
                </a:solidFill>
                <a:latin typeface="Calibri"/>
              </a:rPr>
              <a:t>Vector Search</a:t>
            </a:r>
          </a:p>
        </p:txBody>
      </p:sp>
      <p:sp>
        <p:nvSpPr>
          <p:cNvPr id="44" name="TextBox 43"/>
          <p:cNvSpPr txBox="1"/>
          <p:nvPr/>
        </p:nvSpPr>
        <p:spPr>
          <a:xfrm>
            <a:off x="3814635" y="2615184"/>
            <a:ext cx="1371600" cy="347472"/>
          </a:xfrm>
          <a:prstGeom prst="rect">
            <a:avLst/>
          </a:prstGeom>
          <a:noFill/>
        </p:spPr>
        <p:txBody>
          <a:bodyPr wrap="square">
            <a:spAutoFit/>
          </a:bodyPr>
          <a:lstStyle/>
          <a:p>
            <a:pPr algn="l"/>
            <a:r>
              <a:rPr sz="800">
                <a:solidFill>
                  <a:srgbClr val="5A6A9A"/>
                </a:solidFill>
                <a:latin typeface="Calibri"/>
              </a:rPr>
              <a:t>FAISS
top-k = 20</a:t>
            </a:r>
          </a:p>
        </p:txBody>
      </p:sp>
      <p:sp>
        <p:nvSpPr>
          <p:cNvPr id="45" name="TextBox 44"/>
          <p:cNvSpPr txBox="1"/>
          <p:nvPr/>
        </p:nvSpPr>
        <p:spPr>
          <a:xfrm>
            <a:off x="5314252" y="2464308"/>
            <a:ext cx="201168" cy="292388"/>
          </a:xfrm>
          <a:prstGeom prst="rect">
            <a:avLst/>
          </a:prstGeom>
          <a:noFill/>
        </p:spPr>
        <p:txBody>
          <a:bodyPr wrap="square">
            <a:spAutoFit/>
          </a:bodyPr>
          <a:lstStyle/>
          <a:p>
            <a:pPr algn="l"/>
            <a:r>
              <a:rPr sz="1300" b="1">
                <a:solidFill>
                  <a:srgbClr val="9AAABF"/>
                </a:solidFill>
                <a:latin typeface="Calibri"/>
              </a:rPr>
              <a:t>&gt;</a:t>
            </a:r>
          </a:p>
        </p:txBody>
      </p:sp>
      <p:sp>
        <p:nvSpPr>
          <p:cNvPr id="46" name="Rectangle 45"/>
          <p:cNvSpPr/>
          <p:nvPr/>
        </p:nvSpPr>
        <p:spPr>
          <a:xfrm>
            <a:off x="5570283" y="2286000"/>
            <a:ext cx="1536192" cy="649224"/>
          </a:xfrm>
          <a:prstGeom prst="rect">
            <a:avLst/>
          </a:prstGeom>
          <a:solidFill>
            <a:srgbClr val="F0EBF9"/>
          </a:solidFill>
          <a:ln w="9525">
            <a:solidFill>
              <a:srgbClr val="7C5C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5661723" y="2340865"/>
            <a:ext cx="1371600" cy="238527"/>
          </a:xfrm>
          <a:prstGeom prst="rect">
            <a:avLst/>
          </a:prstGeom>
          <a:noFill/>
        </p:spPr>
        <p:txBody>
          <a:bodyPr wrap="square">
            <a:spAutoFit/>
          </a:bodyPr>
          <a:lstStyle/>
          <a:p>
            <a:pPr algn="l"/>
            <a:r>
              <a:rPr sz="950" b="1">
                <a:solidFill>
                  <a:srgbClr val="7C5CBF"/>
                </a:solidFill>
                <a:latin typeface="Calibri"/>
              </a:rPr>
              <a:t>CrossEncoder</a:t>
            </a:r>
          </a:p>
        </p:txBody>
      </p:sp>
      <p:sp>
        <p:nvSpPr>
          <p:cNvPr id="48" name="TextBox 47"/>
          <p:cNvSpPr txBox="1"/>
          <p:nvPr/>
        </p:nvSpPr>
        <p:spPr>
          <a:xfrm>
            <a:off x="5661723" y="2615184"/>
            <a:ext cx="1371600" cy="347472"/>
          </a:xfrm>
          <a:prstGeom prst="rect">
            <a:avLst/>
          </a:prstGeom>
          <a:noFill/>
        </p:spPr>
        <p:txBody>
          <a:bodyPr wrap="square">
            <a:spAutoFit/>
          </a:bodyPr>
          <a:lstStyle/>
          <a:p>
            <a:pPr algn="l"/>
            <a:r>
              <a:rPr sz="800" dirty="0">
                <a:solidFill>
                  <a:srgbClr val="5A6A9A"/>
                </a:solidFill>
                <a:latin typeface="Calibri"/>
              </a:rPr>
              <a:t>BAAI/</a:t>
            </a:r>
            <a:r>
              <a:rPr sz="800" dirty="0" err="1">
                <a:solidFill>
                  <a:srgbClr val="5A6A9A"/>
                </a:solidFill>
                <a:latin typeface="Calibri"/>
              </a:rPr>
              <a:t>bge</a:t>
            </a:r>
            <a:r>
              <a:rPr sz="800" dirty="0">
                <a:solidFill>
                  <a:srgbClr val="5A6A9A"/>
                </a:solidFill>
                <a:latin typeface="Calibri"/>
              </a:rPr>
              <a:t>
</a:t>
            </a:r>
            <a:r>
              <a:rPr sz="800" dirty="0" err="1">
                <a:solidFill>
                  <a:srgbClr val="5A6A9A"/>
                </a:solidFill>
                <a:latin typeface="Calibri"/>
              </a:rPr>
              <a:t>reranker</a:t>
            </a:r>
            <a:endParaRPr sz="800" dirty="0">
              <a:solidFill>
                <a:srgbClr val="5A6A9A"/>
              </a:solidFill>
              <a:latin typeface="Calibri"/>
            </a:endParaRPr>
          </a:p>
        </p:txBody>
      </p:sp>
      <p:sp>
        <p:nvSpPr>
          <p:cNvPr id="49" name="TextBox 48"/>
          <p:cNvSpPr txBox="1"/>
          <p:nvPr/>
        </p:nvSpPr>
        <p:spPr>
          <a:xfrm>
            <a:off x="7161339" y="2464308"/>
            <a:ext cx="201168" cy="292388"/>
          </a:xfrm>
          <a:prstGeom prst="rect">
            <a:avLst/>
          </a:prstGeom>
          <a:noFill/>
        </p:spPr>
        <p:txBody>
          <a:bodyPr wrap="square">
            <a:spAutoFit/>
          </a:bodyPr>
          <a:lstStyle/>
          <a:p>
            <a:pPr algn="l"/>
            <a:r>
              <a:rPr sz="1300" b="1">
                <a:solidFill>
                  <a:srgbClr val="9AAABF"/>
                </a:solidFill>
                <a:latin typeface="Calibri"/>
              </a:rPr>
              <a:t>&gt;</a:t>
            </a:r>
          </a:p>
        </p:txBody>
      </p:sp>
      <p:sp>
        <p:nvSpPr>
          <p:cNvPr id="50" name="Rectangle 49"/>
          <p:cNvSpPr/>
          <p:nvPr/>
        </p:nvSpPr>
        <p:spPr>
          <a:xfrm>
            <a:off x="7417371" y="2286000"/>
            <a:ext cx="1536192" cy="649224"/>
          </a:xfrm>
          <a:prstGeom prst="rect">
            <a:avLst/>
          </a:prstGeom>
          <a:solidFill>
            <a:srgbClr val="F0EBF9"/>
          </a:solidFill>
          <a:ln w="9525">
            <a:solidFill>
              <a:srgbClr val="7C5CB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508811" y="2340865"/>
            <a:ext cx="1371600" cy="238527"/>
          </a:xfrm>
          <a:prstGeom prst="rect">
            <a:avLst/>
          </a:prstGeom>
          <a:noFill/>
        </p:spPr>
        <p:txBody>
          <a:bodyPr wrap="square">
            <a:spAutoFit/>
          </a:bodyPr>
          <a:lstStyle/>
          <a:p>
            <a:pPr algn="l"/>
            <a:r>
              <a:rPr sz="950" b="1">
                <a:solidFill>
                  <a:srgbClr val="7C5CBF"/>
                </a:solidFill>
                <a:latin typeface="Calibri"/>
              </a:rPr>
              <a:t>Top 5 Chunks</a:t>
            </a:r>
          </a:p>
        </p:txBody>
      </p:sp>
      <p:sp>
        <p:nvSpPr>
          <p:cNvPr id="52" name="TextBox 51"/>
          <p:cNvSpPr txBox="1"/>
          <p:nvPr/>
        </p:nvSpPr>
        <p:spPr>
          <a:xfrm>
            <a:off x="7508811" y="2615184"/>
            <a:ext cx="1371600" cy="347472"/>
          </a:xfrm>
          <a:prstGeom prst="rect">
            <a:avLst/>
          </a:prstGeom>
          <a:noFill/>
        </p:spPr>
        <p:txBody>
          <a:bodyPr wrap="square">
            <a:spAutoFit/>
          </a:bodyPr>
          <a:lstStyle/>
          <a:p>
            <a:pPr algn="l"/>
            <a:r>
              <a:rPr sz="800">
                <a:solidFill>
                  <a:srgbClr val="5A6A9A"/>
                </a:solidFill>
                <a:latin typeface="Calibri"/>
              </a:rPr>
              <a:t>rerank_rank
+ score</a:t>
            </a:r>
          </a:p>
        </p:txBody>
      </p:sp>
      <p:sp>
        <p:nvSpPr>
          <p:cNvPr id="53" name="TextBox 52"/>
          <p:cNvSpPr txBox="1"/>
          <p:nvPr/>
        </p:nvSpPr>
        <p:spPr>
          <a:xfrm>
            <a:off x="5945188" y="3072384"/>
            <a:ext cx="365760" cy="292388"/>
          </a:xfrm>
          <a:prstGeom prst="rect">
            <a:avLst/>
          </a:prstGeom>
          <a:noFill/>
        </p:spPr>
        <p:txBody>
          <a:bodyPr wrap="square">
            <a:spAutoFit/>
          </a:bodyPr>
          <a:lstStyle/>
          <a:p>
            <a:pPr algn="l"/>
            <a:r>
              <a:rPr sz="1300" b="1">
                <a:solidFill>
                  <a:srgbClr val="9AAABF"/>
                </a:solidFill>
                <a:latin typeface="Calibri"/>
              </a:rPr>
              <a:t>v</a:t>
            </a:r>
          </a:p>
        </p:txBody>
      </p:sp>
      <p:sp>
        <p:nvSpPr>
          <p:cNvPr id="54" name="Rectangle 53"/>
          <p:cNvSpPr/>
          <p:nvPr/>
        </p:nvSpPr>
        <p:spPr>
          <a:xfrm>
            <a:off x="367348" y="3310128"/>
            <a:ext cx="11457432" cy="868680"/>
          </a:xfrm>
          <a:prstGeom prst="rect">
            <a:avLst/>
          </a:prstGeom>
          <a:solidFill>
            <a:srgbClr val="FFFFFF"/>
          </a:solidFill>
          <a:ln w="12700">
            <a:solidFill>
              <a:srgbClr val="D0D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367348" y="3310128"/>
            <a:ext cx="1325880" cy="868680"/>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367348" y="3310128"/>
            <a:ext cx="64008" cy="868680"/>
          </a:xfrm>
          <a:prstGeom prst="rect">
            <a:avLst/>
          </a:prstGeom>
          <a:solidFill>
            <a:srgbClr val="1E7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04508" y="3543300"/>
            <a:ext cx="1097280" cy="238527"/>
          </a:xfrm>
          <a:prstGeom prst="rect">
            <a:avLst/>
          </a:prstGeom>
          <a:noFill/>
        </p:spPr>
        <p:txBody>
          <a:bodyPr wrap="square">
            <a:spAutoFit/>
          </a:bodyPr>
          <a:lstStyle/>
          <a:p>
            <a:pPr algn="l"/>
            <a:r>
              <a:rPr sz="950" b="1">
                <a:solidFill>
                  <a:srgbClr val="1E7A4E"/>
                </a:solidFill>
                <a:latin typeface="Calibri"/>
              </a:rPr>
              <a:t>Generation</a:t>
            </a:r>
          </a:p>
        </p:txBody>
      </p:sp>
      <p:sp>
        <p:nvSpPr>
          <p:cNvPr id="58" name="Rectangle 57"/>
          <p:cNvSpPr/>
          <p:nvPr/>
        </p:nvSpPr>
        <p:spPr>
          <a:xfrm>
            <a:off x="504508" y="3817620"/>
            <a:ext cx="749808" cy="201168"/>
          </a:xfrm>
          <a:prstGeom prst="rect">
            <a:avLst/>
          </a:prstGeom>
          <a:solidFill>
            <a:srgbClr val="1E7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22795" y="3835908"/>
            <a:ext cx="731520" cy="207749"/>
          </a:xfrm>
          <a:prstGeom prst="rect">
            <a:avLst/>
          </a:prstGeom>
          <a:noFill/>
        </p:spPr>
        <p:txBody>
          <a:bodyPr wrap="square">
            <a:spAutoFit/>
          </a:bodyPr>
          <a:lstStyle/>
          <a:p>
            <a:pPr algn="ctr"/>
            <a:r>
              <a:rPr sz="750" b="1">
                <a:solidFill>
                  <a:srgbClr val="FFFFFF"/>
                </a:solidFill>
                <a:latin typeface="Calibri"/>
              </a:rPr>
              <a:t>QUERY</a:t>
            </a:r>
          </a:p>
        </p:txBody>
      </p:sp>
      <p:sp>
        <p:nvSpPr>
          <p:cNvPr id="60" name="Rectangle 59"/>
          <p:cNvSpPr/>
          <p:nvPr/>
        </p:nvSpPr>
        <p:spPr>
          <a:xfrm>
            <a:off x="1876107" y="3419856"/>
            <a:ext cx="1536192" cy="649224"/>
          </a:xfrm>
          <a:prstGeom prst="rect">
            <a:avLst/>
          </a:prstGeom>
          <a:solidFill>
            <a:srgbClr val="E8F5EE"/>
          </a:solidFill>
          <a:ln w="9525">
            <a:solidFill>
              <a:srgbClr val="1E7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967548" y="3474721"/>
            <a:ext cx="1371600" cy="238527"/>
          </a:xfrm>
          <a:prstGeom prst="rect">
            <a:avLst/>
          </a:prstGeom>
          <a:noFill/>
        </p:spPr>
        <p:txBody>
          <a:bodyPr wrap="square">
            <a:spAutoFit/>
          </a:bodyPr>
          <a:lstStyle/>
          <a:p>
            <a:pPr algn="l"/>
            <a:r>
              <a:rPr sz="950" b="1">
                <a:solidFill>
                  <a:srgbClr val="1E7A4E"/>
                </a:solidFill>
                <a:latin typeface="Calibri"/>
              </a:rPr>
              <a:t>Context</a:t>
            </a:r>
          </a:p>
        </p:txBody>
      </p:sp>
      <p:sp>
        <p:nvSpPr>
          <p:cNvPr id="62" name="TextBox 61"/>
          <p:cNvSpPr txBox="1"/>
          <p:nvPr/>
        </p:nvSpPr>
        <p:spPr>
          <a:xfrm>
            <a:off x="1967548" y="3749039"/>
            <a:ext cx="1371600" cy="347472"/>
          </a:xfrm>
          <a:prstGeom prst="rect">
            <a:avLst/>
          </a:prstGeom>
          <a:noFill/>
        </p:spPr>
        <p:txBody>
          <a:bodyPr wrap="square">
            <a:spAutoFit/>
          </a:bodyPr>
          <a:lstStyle/>
          <a:p>
            <a:pPr algn="l"/>
            <a:r>
              <a:rPr sz="800">
                <a:solidFill>
                  <a:srgbClr val="5A6A9A"/>
                </a:solidFill>
                <a:latin typeface="Calibri"/>
              </a:rPr>
              <a:t>title · page
topics · type</a:t>
            </a:r>
          </a:p>
        </p:txBody>
      </p:sp>
      <p:sp>
        <p:nvSpPr>
          <p:cNvPr id="63" name="TextBox 62"/>
          <p:cNvSpPr txBox="1"/>
          <p:nvPr/>
        </p:nvSpPr>
        <p:spPr>
          <a:xfrm>
            <a:off x="3467163" y="3598163"/>
            <a:ext cx="201168" cy="292388"/>
          </a:xfrm>
          <a:prstGeom prst="rect">
            <a:avLst/>
          </a:prstGeom>
          <a:noFill/>
        </p:spPr>
        <p:txBody>
          <a:bodyPr wrap="square">
            <a:spAutoFit/>
          </a:bodyPr>
          <a:lstStyle/>
          <a:p>
            <a:pPr algn="l"/>
            <a:r>
              <a:rPr sz="1300" b="1">
                <a:solidFill>
                  <a:srgbClr val="9AAABF"/>
                </a:solidFill>
                <a:latin typeface="Calibri"/>
              </a:rPr>
              <a:t>&gt;</a:t>
            </a:r>
          </a:p>
        </p:txBody>
      </p:sp>
      <p:sp>
        <p:nvSpPr>
          <p:cNvPr id="64" name="Rectangle 63"/>
          <p:cNvSpPr/>
          <p:nvPr/>
        </p:nvSpPr>
        <p:spPr>
          <a:xfrm>
            <a:off x="3723195" y="3419856"/>
            <a:ext cx="1536192" cy="649224"/>
          </a:xfrm>
          <a:prstGeom prst="rect">
            <a:avLst/>
          </a:prstGeom>
          <a:solidFill>
            <a:srgbClr val="E8F5EE"/>
          </a:solidFill>
          <a:ln w="9525">
            <a:solidFill>
              <a:srgbClr val="1E7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3814635" y="3474721"/>
            <a:ext cx="1371600" cy="238527"/>
          </a:xfrm>
          <a:prstGeom prst="rect">
            <a:avLst/>
          </a:prstGeom>
          <a:noFill/>
        </p:spPr>
        <p:txBody>
          <a:bodyPr wrap="square">
            <a:spAutoFit/>
          </a:bodyPr>
          <a:lstStyle/>
          <a:p>
            <a:pPr algn="l"/>
            <a:r>
              <a:rPr sz="950" b="1">
                <a:solidFill>
                  <a:srgbClr val="1E7A4E"/>
                </a:solidFill>
                <a:latin typeface="Calibri"/>
              </a:rPr>
              <a:t>Chat History</a:t>
            </a:r>
          </a:p>
        </p:txBody>
      </p:sp>
      <p:sp>
        <p:nvSpPr>
          <p:cNvPr id="66" name="TextBox 65"/>
          <p:cNvSpPr txBox="1"/>
          <p:nvPr/>
        </p:nvSpPr>
        <p:spPr>
          <a:xfrm>
            <a:off x="3814635" y="3749039"/>
            <a:ext cx="1371600" cy="347472"/>
          </a:xfrm>
          <a:prstGeom prst="rect">
            <a:avLst/>
          </a:prstGeom>
          <a:noFill/>
        </p:spPr>
        <p:txBody>
          <a:bodyPr wrap="square">
            <a:spAutoFit/>
          </a:bodyPr>
          <a:lstStyle/>
          <a:p>
            <a:pPr algn="l"/>
            <a:r>
              <a:rPr sz="800">
                <a:solidFill>
                  <a:srgbClr val="5A6A9A"/>
                </a:solidFill>
                <a:latin typeface="Calibri"/>
              </a:rPr>
              <a:t>last 6 turns
SQLite</a:t>
            </a:r>
          </a:p>
        </p:txBody>
      </p:sp>
      <p:sp>
        <p:nvSpPr>
          <p:cNvPr id="67" name="TextBox 66"/>
          <p:cNvSpPr txBox="1"/>
          <p:nvPr/>
        </p:nvSpPr>
        <p:spPr>
          <a:xfrm>
            <a:off x="5314252" y="3598163"/>
            <a:ext cx="201168" cy="292388"/>
          </a:xfrm>
          <a:prstGeom prst="rect">
            <a:avLst/>
          </a:prstGeom>
          <a:noFill/>
        </p:spPr>
        <p:txBody>
          <a:bodyPr wrap="square">
            <a:spAutoFit/>
          </a:bodyPr>
          <a:lstStyle/>
          <a:p>
            <a:pPr algn="l"/>
            <a:r>
              <a:rPr sz="1300" b="1">
                <a:solidFill>
                  <a:srgbClr val="9AAABF"/>
                </a:solidFill>
                <a:latin typeface="Calibri"/>
              </a:rPr>
              <a:t>&gt;</a:t>
            </a:r>
          </a:p>
        </p:txBody>
      </p:sp>
      <p:sp>
        <p:nvSpPr>
          <p:cNvPr id="68" name="Rectangle 67"/>
          <p:cNvSpPr/>
          <p:nvPr/>
        </p:nvSpPr>
        <p:spPr>
          <a:xfrm>
            <a:off x="5570283" y="3419856"/>
            <a:ext cx="1536192" cy="649224"/>
          </a:xfrm>
          <a:prstGeom prst="rect">
            <a:avLst/>
          </a:prstGeom>
          <a:solidFill>
            <a:srgbClr val="E8F5EE"/>
          </a:solidFill>
          <a:ln w="9525">
            <a:solidFill>
              <a:srgbClr val="1E7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661723" y="3474721"/>
            <a:ext cx="1371600" cy="238527"/>
          </a:xfrm>
          <a:prstGeom prst="rect">
            <a:avLst/>
          </a:prstGeom>
          <a:noFill/>
        </p:spPr>
        <p:txBody>
          <a:bodyPr wrap="square">
            <a:spAutoFit/>
          </a:bodyPr>
          <a:lstStyle/>
          <a:p>
            <a:pPr algn="l"/>
            <a:r>
              <a:rPr sz="950" b="1">
                <a:solidFill>
                  <a:srgbClr val="1E7A4E"/>
                </a:solidFill>
                <a:latin typeface="Calibri"/>
              </a:rPr>
              <a:t>RAG Prompt</a:t>
            </a:r>
          </a:p>
        </p:txBody>
      </p:sp>
      <p:sp>
        <p:nvSpPr>
          <p:cNvPr id="70" name="TextBox 69"/>
          <p:cNvSpPr txBox="1"/>
          <p:nvPr/>
        </p:nvSpPr>
        <p:spPr>
          <a:xfrm>
            <a:off x="5661723" y="3749039"/>
            <a:ext cx="1371600" cy="347472"/>
          </a:xfrm>
          <a:prstGeom prst="rect">
            <a:avLst/>
          </a:prstGeom>
          <a:noFill/>
        </p:spPr>
        <p:txBody>
          <a:bodyPr wrap="square">
            <a:spAutoFit/>
          </a:bodyPr>
          <a:lstStyle/>
          <a:p>
            <a:pPr algn="l"/>
            <a:r>
              <a:rPr sz="800">
                <a:solidFill>
                  <a:srgbClr val="5A6A9A"/>
                </a:solidFill>
                <a:latin typeface="Calibri"/>
              </a:rPr>
              <a:t>cite every
claim</a:t>
            </a:r>
          </a:p>
        </p:txBody>
      </p:sp>
      <p:sp>
        <p:nvSpPr>
          <p:cNvPr id="71" name="TextBox 70"/>
          <p:cNvSpPr txBox="1"/>
          <p:nvPr/>
        </p:nvSpPr>
        <p:spPr>
          <a:xfrm>
            <a:off x="7161339" y="3598163"/>
            <a:ext cx="201168" cy="292388"/>
          </a:xfrm>
          <a:prstGeom prst="rect">
            <a:avLst/>
          </a:prstGeom>
          <a:noFill/>
        </p:spPr>
        <p:txBody>
          <a:bodyPr wrap="square">
            <a:spAutoFit/>
          </a:bodyPr>
          <a:lstStyle/>
          <a:p>
            <a:pPr algn="l"/>
            <a:r>
              <a:rPr sz="1300" b="1">
                <a:solidFill>
                  <a:srgbClr val="9AAABF"/>
                </a:solidFill>
                <a:latin typeface="Calibri"/>
              </a:rPr>
              <a:t>&gt;</a:t>
            </a:r>
          </a:p>
        </p:txBody>
      </p:sp>
      <p:sp>
        <p:nvSpPr>
          <p:cNvPr id="72" name="Rectangle 71"/>
          <p:cNvSpPr/>
          <p:nvPr/>
        </p:nvSpPr>
        <p:spPr>
          <a:xfrm>
            <a:off x="7417371" y="3419856"/>
            <a:ext cx="1536192" cy="649224"/>
          </a:xfrm>
          <a:prstGeom prst="rect">
            <a:avLst/>
          </a:prstGeom>
          <a:solidFill>
            <a:srgbClr val="E8F5EE"/>
          </a:solidFill>
          <a:ln w="9525">
            <a:solidFill>
              <a:srgbClr val="1E7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7508811" y="3474721"/>
            <a:ext cx="1371600" cy="238527"/>
          </a:xfrm>
          <a:prstGeom prst="rect">
            <a:avLst/>
          </a:prstGeom>
          <a:noFill/>
        </p:spPr>
        <p:txBody>
          <a:bodyPr wrap="square">
            <a:spAutoFit/>
          </a:bodyPr>
          <a:lstStyle/>
          <a:p>
            <a:pPr algn="l"/>
            <a:r>
              <a:rPr sz="950" b="1">
                <a:solidFill>
                  <a:srgbClr val="1E7A4E"/>
                </a:solidFill>
                <a:latin typeface="Calibri"/>
              </a:rPr>
              <a:t>GPT-4o</a:t>
            </a:r>
          </a:p>
        </p:txBody>
      </p:sp>
      <p:sp>
        <p:nvSpPr>
          <p:cNvPr id="74" name="TextBox 73"/>
          <p:cNvSpPr txBox="1"/>
          <p:nvPr/>
        </p:nvSpPr>
        <p:spPr>
          <a:xfrm>
            <a:off x="7508811" y="3749039"/>
            <a:ext cx="1371600" cy="347472"/>
          </a:xfrm>
          <a:prstGeom prst="rect">
            <a:avLst/>
          </a:prstGeom>
          <a:noFill/>
        </p:spPr>
        <p:txBody>
          <a:bodyPr wrap="square">
            <a:spAutoFit/>
          </a:bodyPr>
          <a:lstStyle/>
          <a:p>
            <a:pPr algn="l"/>
            <a:r>
              <a:rPr sz="800">
                <a:solidFill>
                  <a:srgbClr val="5A6A9A"/>
                </a:solidFill>
                <a:latin typeface="Calibri"/>
              </a:rPr>
              <a:t>answer +
[Source N]</a:t>
            </a:r>
          </a:p>
        </p:txBody>
      </p:sp>
      <p:sp>
        <p:nvSpPr>
          <p:cNvPr id="75" name="TextBox 74"/>
          <p:cNvSpPr txBox="1"/>
          <p:nvPr/>
        </p:nvSpPr>
        <p:spPr>
          <a:xfrm>
            <a:off x="5945188" y="4206240"/>
            <a:ext cx="365760" cy="292388"/>
          </a:xfrm>
          <a:prstGeom prst="rect">
            <a:avLst/>
          </a:prstGeom>
          <a:noFill/>
        </p:spPr>
        <p:txBody>
          <a:bodyPr wrap="square">
            <a:spAutoFit/>
          </a:bodyPr>
          <a:lstStyle/>
          <a:p>
            <a:pPr algn="l"/>
            <a:r>
              <a:rPr sz="1300" b="1">
                <a:solidFill>
                  <a:srgbClr val="9AAABF"/>
                </a:solidFill>
                <a:latin typeface="Calibri"/>
              </a:rPr>
              <a:t>v</a:t>
            </a:r>
          </a:p>
        </p:txBody>
      </p:sp>
      <p:sp>
        <p:nvSpPr>
          <p:cNvPr id="76" name="Rectangle 75"/>
          <p:cNvSpPr/>
          <p:nvPr/>
        </p:nvSpPr>
        <p:spPr>
          <a:xfrm>
            <a:off x="367348" y="4443984"/>
            <a:ext cx="11457432" cy="658368"/>
          </a:xfrm>
          <a:prstGeom prst="rect">
            <a:avLst/>
          </a:prstGeom>
          <a:solidFill>
            <a:srgbClr val="FFFFFF"/>
          </a:solidFill>
          <a:ln w="12700">
            <a:solidFill>
              <a:srgbClr val="D0D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367348" y="4443984"/>
            <a:ext cx="1325880" cy="658368"/>
          </a:xfrm>
          <a:prstGeom prst="rect">
            <a:avLst/>
          </a:prstGeom>
          <a:solidFill>
            <a:srgbClr val="F0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367348" y="4443984"/>
            <a:ext cx="64008" cy="658368"/>
          </a:xfrm>
          <a:prstGeom prst="rect">
            <a:avLst/>
          </a:prstGeom>
          <a:solidFill>
            <a:srgbClr val="5A6A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504508" y="4572001"/>
            <a:ext cx="1097280" cy="238527"/>
          </a:xfrm>
          <a:prstGeom prst="rect">
            <a:avLst/>
          </a:prstGeom>
          <a:noFill/>
        </p:spPr>
        <p:txBody>
          <a:bodyPr wrap="square">
            <a:spAutoFit/>
          </a:bodyPr>
          <a:lstStyle/>
          <a:p>
            <a:pPr algn="l"/>
            <a:r>
              <a:rPr sz="950" b="1">
                <a:solidFill>
                  <a:srgbClr val="5A6A9A"/>
                </a:solidFill>
                <a:latin typeface="Calibri"/>
              </a:rPr>
              <a:t>Interface</a:t>
            </a:r>
          </a:p>
        </p:txBody>
      </p:sp>
      <p:sp>
        <p:nvSpPr>
          <p:cNvPr id="80" name="Rectangle 79"/>
          <p:cNvSpPr/>
          <p:nvPr/>
        </p:nvSpPr>
        <p:spPr>
          <a:xfrm>
            <a:off x="1876107" y="4553712"/>
            <a:ext cx="1536192" cy="438912"/>
          </a:xfrm>
          <a:prstGeom prst="rect">
            <a:avLst/>
          </a:prstGeom>
          <a:solidFill>
            <a:srgbClr val="F0F2F8"/>
          </a:solidFill>
          <a:ln w="9525">
            <a:solidFill>
              <a:srgbClr val="5A6A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TextBox 80"/>
          <p:cNvSpPr txBox="1"/>
          <p:nvPr/>
        </p:nvSpPr>
        <p:spPr>
          <a:xfrm>
            <a:off x="1967548" y="4608577"/>
            <a:ext cx="1371600" cy="238527"/>
          </a:xfrm>
          <a:prstGeom prst="rect">
            <a:avLst/>
          </a:prstGeom>
          <a:noFill/>
        </p:spPr>
        <p:txBody>
          <a:bodyPr wrap="square">
            <a:spAutoFit/>
          </a:bodyPr>
          <a:lstStyle/>
          <a:p>
            <a:pPr algn="l"/>
            <a:r>
              <a:rPr sz="950" b="1">
                <a:solidFill>
                  <a:srgbClr val="5A6A9A"/>
                </a:solidFill>
                <a:latin typeface="Calibri"/>
              </a:rPr>
              <a:t>FastAPI</a:t>
            </a:r>
          </a:p>
        </p:txBody>
      </p:sp>
      <p:sp>
        <p:nvSpPr>
          <p:cNvPr id="82" name="TextBox 81"/>
          <p:cNvSpPr txBox="1"/>
          <p:nvPr/>
        </p:nvSpPr>
        <p:spPr>
          <a:xfrm>
            <a:off x="2496635" y="4626864"/>
            <a:ext cx="667972" cy="347472"/>
          </a:xfrm>
          <a:prstGeom prst="rect">
            <a:avLst/>
          </a:prstGeom>
          <a:noFill/>
        </p:spPr>
        <p:txBody>
          <a:bodyPr wrap="square">
            <a:spAutoFit/>
          </a:bodyPr>
          <a:lstStyle/>
          <a:p>
            <a:pPr algn="l"/>
            <a:r>
              <a:rPr sz="800" dirty="0">
                <a:solidFill>
                  <a:srgbClr val="5A6A9A"/>
                </a:solidFill>
                <a:latin typeface="Calibri"/>
              </a:rPr>
              <a:t>/query
/sessions</a:t>
            </a:r>
          </a:p>
        </p:txBody>
      </p:sp>
      <p:sp>
        <p:nvSpPr>
          <p:cNvPr id="83" name="TextBox 82"/>
          <p:cNvSpPr txBox="1"/>
          <p:nvPr/>
        </p:nvSpPr>
        <p:spPr>
          <a:xfrm>
            <a:off x="3467163" y="4626864"/>
            <a:ext cx="201168" cy="292388"/>
          </a:xfrm>
          <a:prstGeom prst="rect">
            <a:avLst/>
          </a:prstGeom>
          <a:noFill/>
        </p:spPr>
        <p:txBody>
          <a:bodyPr wrap="square">
            <a:spAutoFit/>
          </a:bodyPr>
          <a:lstStyle/>
          <a:p>
            <a:pPr algn="l"/>
            <a:r>
              <a:rPr sz="1300" b="1">
                <a:solidFill>
                  <a:srgbClr val="9AAABF"/>
                </a:solidFill>
                <a:latin typeface="Calibri"/>
              </a:rPr>
              <a:t>&gt;</a:t>
            </a:r>
          </a:p>
        </p:txBody>
      </p:sp>
      <p:sp>
        <p:nvSpPr>
          <p:cNvPr id="84" name="Rectangle 83"/>
          <p:cNvSpPr/>
          <p:nvPr/>
        </p:nvSpPr>
        <p:spPr>
          <a:xfrm>
            <a:off x="3723195" y="4553712"/>
            <a:ext cx="1536192" cy="438912"/>
          </a:xfrm>
          <a:prstGeom prst="rect">
            <a:avLst/>
          </a:prstGeom>
          <a:solidFill>
            <a:srgbClr val="F0F2F8"/>
          </a:solidFill>
          <a:ln w="9525">
            <a:solidFill>
              <a:srgbClr val="5A6A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3814635" y="4608577"/>
            <a:ext cx="1371600" cy="238527"/>
          </a:xfrm>
          <a:prstGeom prst="rect">
            <a:avLst/>
          </a:prstGeom>
          <a:noFill/>
        </p:spPr>
        <p:txBody>
          <a:bodyPr wrap="square">
            <a:spAutoFit/>
          </a:bodyPr>
          <a:lstStyle/>
          <a:p>
            <a:pPr algn="l"/>
            <a:r>
              <a:rPr sz="950" b="1">
                <a:solidFill>
                  <a:srgbClr val="5A6A9A"/>
                </a:solidFill>
                <a:latin typeface="Calibri"/>
              </a:rPr>
              <a:t>Streamlit</a:t>
            </a:r>
          </a:p>
        </p:txBody>
      </p:sp>
      <p:sp>
        <p:nvSpPr>
          <p:cNvPr id="86" name="TextBox 85"/>
          <p:cNvSpPr txBox="1"/>
          <p:nvPr/>
        </p:nvSpPr>
        <p:spPr>
          <a:xfrm>
            <a:off x="4344989" y="4608576"/>
            <a:ext cx="797943" cy="347472"/>
          </a:xfrm>
          <a:prstGeom prst="rect">
            <a:avLst/>
          </a:prstGeom>
          <a:noFill/>
        </p:spPr>
        <p:txBody>
          <a:bodyPr wrap="square">
            <a:spAutoFit/>
          </a:bodyPr>
          <a:lstStyle/>
          <a:p>
            <a:pPr algn="l"/>
            <a:r>
              <a:rPr sz="800" dirty="0">
                <a:solidFill>
                  <a:srgbClr val="5A6A9A"/>
                </a:solidFill>
                <a:latin typeface="Calibri"/>
              </a:rPr>
              <a:t>chat threads
retrieval panel</a:t>
            </a:r>
          </a:p>
        </p:txBody>
      </p:sp>
      <p:sp>
        <p:nvSpPr>
          <p:cNvPr id="87" name="Rectangle 86"/>
          <p:cNvSpPr/>
          <p:nvPr/>
        </p:nvSpPr>
        <p:spPr>
          <a:xfrm>
            <a:off x="367348" y="5230368"/>
            <a:ext cx="11457432" cy="969264"/>
          </a:xfrm>
          <a:prstGeom prst="rect">
            <a:avLst/>
          </a:prstGeom>
          <a:solidFill>
            <a:srgbClr val="FFFFFF"/>
          </a:solidFill>
          <a:ln w="12700">
            <a:solidFill>
              <a:srgbClr val="D0D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367348" y="5230368"/>
            <a:ext cx="64008" cy="969264"/>
          </a:xfrm>
          <a:prstGeom prst="rect">
            <a:avLst/>
          </a:prstGeom>
          <a:solidFill>
            <a:srgbClr val="9AA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367348" y="5230368"/>
            <a:ext cx="1325880" cy="969264"/>
          </a:xfrm>
          <a:prstGeom prst="rect">
            <a:avLst/>
          </a:prstGeom>
          <a:solidFill>
            <a:srgbClr val="F0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504508" y="5577841"/>
            <a:ext cx="1097280" cy="238527"/>
          </a:xfrm>
          <a:prstGeom prst="rect">
            <a:avLst/>
          </a:prstGeom>
          <a:noFill/>
        </p:spPr>
        <p:txBody>
          <a:bodyPr wrap="square">
            <a:spAutoFit/>
          </a:bodyPr>
          <a:lstStyle/>
          <a:p>
            <a:pPr algn="l"/>
            <a:r>
              <a:rPr sz="950" b="1">
                <a:solidFill>
                  <a:srgbClr val="5A6A9A"/>
                </a:solidFill>
                <a:latin typeface="Calibri"/>
              </a:rPr>
              <a:t>Persistence</a:t>
            </a:r>
          </a:p>
        </p:txBody>
      </p:sp>
      <p:sp>
        <p:nvSpPr>
          <p:cNvPr id="91" name="Rectangle 90"/>
          <p:cNvSpPr/>
          <p:nvPr/>
        </p:nvSpPr>
        <p:spPr>
          <a:xfrm>
            <a:off x="1876107" y="5285232"/>
            <a:ext cx="3474720" cy="841248"/>
          </a:xfrm>
          <a:prstGeom prst="rect">
            <a:avLst/>
          </a:prstGeom>
          <a:solidFill>
            <a:srgbClr val="E8EDFB"/>
          </a:solidFill>
          <a:ln w="9525">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1985836" y="5330952"/>
            <a:ext cx="2011680" cy="246888"/>
          </a:xfrm>
          <a:prstGeom prst="rect">
            <a:avLst/>
          </a:prstGeom>
          <a:noFill/>
        </p:spPr>
        <p:txBody>
          <a:bodyPr wrap="square">
            <a:spAutoFit/>
          </a:bodyPr>
          <a:lstStyle/>
          <a:p>
            <a:pPr algn="l"/>
            <a:r>
              <a:rPr sz="1000" b="1">
                <a:solidFill>
                  <a:srgbClr val="1E2761"/>
                </a:solidFill>
                <a:latin typeface="Calibri"/>
              </a:rPr>
              <a:t>faiss_index/</a:t>
            </a:r>
          </a:p>
        </p:txBody>
      </p:sp>
      <p:sp>
        <p:nvSpPr>
          <p:cNvPr id="93" name="Rectangle 92"/>
          <p:cNvSpPr/>
          <p:nvPr/>
        </p:nvSpPr>
        <p:spPr>
          <a:xfrm>
            <a:off x="4052379" y="5349240"/>
            <a:ext cx="1143000" cy="20116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4" name="TextBox 93"/>
          <p:cNvSpPr txBox="1"/>
          <p:nvPr/>
        </p:nvSpPr>
        <p:spPr>
          <a:xfrm>
            <a:off x="4070667" y="5367529"/>
            <a:ext cx="1115568" cy="200055"/>
          </a:xfrm>
          <a:prstGeom prst="rect">
            <a:avLst/>
          </a:prstGeom>
          <a:noFill/>
        </p:spPr>
        <p:txBody>
          <a:bodyPr wrap="square">
            <a:spAutoFit/>
          </a:bodyPr>
          <a:lstStyle/>
          <a:p>
            <a:pPr algn="ctr"/>
            <a:r>
              <a:rPr sz="700" b="1">
                <a:solidFill>
                  <a:srgbClr val="FFFFFF"/>
                </a:solidFill>
                <a:latin typeface="Calibri"/>
              </a:rPr>
              <a:t>WRITE-ONCE</a:t>
            </a:r>
          </a:p>
        </p:txBody>
      </p:sp>
      <p:sp>
        <p:nvSpPr>
          <p:cNvPr id="95" name="TextBox 94"/>
          <p:cNvSpPr txBox="1"/>
          <p:nvPr/>
        </p:nvSpPr>
        <p:spPr>
          <a:xfrm>
            <a:off x="1985837" y="5596129"/>
            <a:ext cx="3291839" cy="353943"/>
          </a:xfrm>
          <a:prstGeom prst="rect">
            <a:avLst/>
          </a:prstGeom>
          <a:noFill/>
        </p:spPr>
        <p:txBody>
          <a:bodyPr wrap="square">
            <a:spAutoFit/>
          </a:bodyPr>
          <a:lstStyle/>
          <a:p>
            <a:pPr algn="l"/>
            <a:r>
              <a:rPr sz="850">
                <a:solidFill>
                  <a:srgbClr val="5A6A9A"/>
                </a:solidFill>
                <a:latin typeface="Calibri"/>
              </a:rPr>
              <a:t>Built at ingestion
Loaded at API startup</a:t>
            </a:r>
          </a:p>
        </p:txBody>
      </p:sp>
      <p:sp>
        <p:nvSpPr>
          <p:cNvPr id="96" name="Rectangle 95"/>
          <p:cNvSpPr/>
          <p:nvPr/>
        </p:nvSpPr>
        <p:spPr>
          <a:xfrm>
            <a:off x="5515419" y="5285232"/>
            <a:ext cx="3474720" cy="841248"/>
          </a:xfrm>
          <a:prstGeom prst="rect">
            <a:avLst/>
          </a:prstGeom>
          <a:solidFill>
            <a:srgbClr val="E8F5EE"/>
          </a:solidFill>
          <a:ln w="9525">
            <a:solidFill>
              <a:srgbClr val="1E7A4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5625147" y="5330952"/>
            <a:ext cx="2011680" cy="246888"/>
          </a:xfrm>
          <a:prstGeom prst="rect">
            <a:avLst/>
          </a:prstGeom>
          <a:noFill/>
        </p:spPr>
        <p:txBody>
          <a:bodyPr wrap="square">
            <a:spAutoFit/>
          </a:bodyPr>
          <a:lstStyle/>
          <a:p>
            <a:pPr algn="l"/>
            <a:r>
              <a:rPr sz="1000" b="1">
                <a:solidFill>
                  <a:srgbClr val="1E7A4E"/>
                </a:solidFill>
                <a:latin typeface="Calibri"/>
              </a:rPr>
              <a:t>enriched_chunks.json</a:t>
            </a:r>
          </a:p>
        </p:txBody>
      </p:sp>
      <p:sp>
        <p:nvSpPr>
          <p:cNvPr id="98" name="Rectangle 97"/>
          <p:cNvSpPr/>
          <p:nvPr/>
        </p:nvSpPr>
        <p:spPr>
          <a:xfrm>
            <a:off x="7691692" y="5349240"/>
            <a:ext cx="1143000" cy="201168"/>
          </a:xfrm>
          <a:prstGeom prst="rect">
            <a:avLst/>
          </a:prstGeom>
          <a:solidFill>
            <a:srgbClr val="1E7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7709980" y="5367529"/>
            <a:ext cx="1115568" cy="200055"/>
          </a:xfrm>
          <a:prstGeom prst="rect">
            <a:avLst/>
          </a:prstGeom>
          <a:noFill/>
        </p:spPr>
        <p:txBody>
          <a:bodyPr wrap="square">
            <a:spAutoFit/>
          </a:bodyPr>
          <a:lstStyle/>
          <a:p>
            <a:pPr algn="ctr"/>
            <a:r>
              <a:rPr sz="700" b="1">
                <a:solidFill>
                  <a:srgbClr val="FFFFFF"/>
                </a:solidFill>
                <a:latin typeface="Calibri"/>
              </a:rPr>
              <a:t>WRITE-ONCE</a:t>
            </a:r>
          </a:p>
        </p:txBody>
      </p:sp>
      <p:sp>
        <p:nvSpPr>
          <p:cNvPr id="100" name="TextBox 99"/>
          <p:cNvSpPr txBox="1"/>
          <p:nvPr/>
        </p:nvSpPr>
        <p:spPr>
          <a:xfrm>
            <a:off x="5625148" y="5596129"/>
            <a:ext cx="3291839" cy="353943"/>
          </a:xfrm>
          <a:prstGeom prst="rect">
            <a:avLst/>
          </a:prstGeom>
          <a:noFill/>
        </p:spPr>
        <p:txBody>
          <a:bodyPr wrap="square">
            <a:spAutoFit/>
          </a:bodyPr>
          <a:lstStyle/>
          <a:p>
            <a:pPr algn="l"/>
            <a:r>
              <a:rPr sz="850">
                <a:solidFill>
                  <a:srgbClr val="5A6A9A"/>
                </a:solidFill>
                <a:latin typeface="Calibri"/>
              </a:rPr>
              <a:t>LLM metadata cache
Skips re-enrichment</a:t>
            </a:r>
          </a:p>
        </p:txBody>
      </p:sp>
      <p:sp>
        <p:nvSpPr>
          <p:cNvPr id="101" name="Rectangle 100"/>
          <p:cNvSpPr/>
          <p:nvPr/>
        </p:nvSpPr>
        <p:spPr>
          <a:xfrm>
            <a:off x="9154733" y="5285232"/>
            <a:ext cx="2607535" cy="841248"/>
          </a:xfrm>
          <a:prstGeom prst="rect">
            <a:avLst/>
          </a:prstGeom>
          <a:solidFill>
            <a:srgbClr val="FDF3E8"/>
          </a:solidFill>
          <a:ln w="9525">
            <a:solidFill>
              <a:srgbClr val="C0601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p:cNvSpPr txBox="1"/>
          <p:nvPr/>
        </p:nvSpPr>
        <p:spPr>
          <a:xfrm>
            <a:off x="9264460" y="5330952"/>
            <a:ext cx="2011680" cy="246888"/>
          </a:xfrm>
          <a:prstGeom prst="rect">
            <a:avLst/>
          </a:prstGeom>
          <a:noFill/>
        </p:spPr>
        <p:txBody>
          <a:bodyPr wrap="square">
            <a:spAutoFit/>
          </a:bodyPr>
          <a:lstStyle/>
          <a:p>
            <a:pPr algn="l"/>
            <a:r>
              <a:rPr sz="1000" b="1" dirty="0">
                <a:solidFill>
                  <a:srgbClr val="C06010"/>
                </a:solidFill>
                <a:latin typeface="Calibri"/>
              </a:rPr>
              <a:t>SQLite</a:t>
            </a:r>
          </a:p>
        </p:txBody>
      </p:sp>
      <p:grpSp>
        <p:nvGrpSpPr>
          <p:cNvPr id="108" name="Group 107">
            <a:extLst>
              <a:ext uri="{FF2B5EF4-FFF2-40B4-BE49-F238E27FC236}">
                <a16:creationId xmlns:a16="http://schemas.microsoft.com/office/drawing/2014/main" id="{FB1D7CD6-8890-39A9-125B-8E963287C540}"/>
              </a:ext>
            </a:extLst>
          </p:cNvPr>
          <p:cNvGrpSpPr/>
          <p:nvPr/>
        </p:nvGrpSpPr>
        <p:grpSpPr>
          <a:xfrm>
            <a:off x="10422356" y="5370346"/>
            <a:ext cx="1269521" cy="201168"/>
            <a:chOff x="11202895" y="5349240"/>
            <a:chExt cx="1269521" cy="201168"/>
          </a:xfrm>
        </p:grpSpPr>
        <p:sp>
          <p:nvSpPr>
            <p:cNvPr id="103" name="Rectangle 102"/>
            <p:cNvSpPr/>
            <p:nvPr/>
          </p:nvSpPr>
          <p:spPr>
            <a:xfrm>
              <a:off x="11329416" y="5349240"/>
              <a:ext cx="1143000" cy="201168"/>
            </a:xfrm>
            <a:prstGeom prst="rect">
              <a:avLst/>
            </a:prstGeom>
            <a:solidFill>
              <a:srgbClr val="C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11202895" y="5349240"/>
              <a:ext cx="1115568" cy="200055"/>
            </a:xfrm>
            <a:prstGeom prst="rect">
              <a:avLst/>
            </a:prstGeom>
            <a:noFill/>
          </p:spPr>
          <p:txBody>
            <a:bodyPr wrap="square">
              <a:spAutoFit/>
            </a:bodyPr>
            <a:lstStyle/>
            <a:p>
              <a:pPr algn="ctr"/>
              <a:r>
                <a:rPr sz="700" b="1" dirty="0">
                  <a:solidFill>
                    <a:srgbClr val="FFFFFF"/>
                  </a:solidFill>
                  <a:latin typeface="Calibri"/>
                </a:rPr>
                <a:t>EVERY QUERY</a:t>
              </a:r>
            </a:p>
          </p:txBody>
        </p:sp>
      </p:grpSp>
      <p:sp>
        <p:nvSpPr>
          <p:cNvPr id="105" name="TextBox 104"/>
          <p:cNvSpPr txBox="1"/>
          <p:nvPr/>
        </p:nvSpPr>
        <p:spPr>
          <a:xfrm>
            <a:off x="9264461" y="5596129"/>
            <a:ext cx="3291839" cy="353943"/>
          </a:xfrm>
          <a:prstGeom prst="rect">
            <a:avLst/>
          </a:prstGeom>
          <a:noFill/>
        </p:spPr>
        <p:txBody>
          <a:bodyPr wrap="square">
            <a:spAutoFit/>
          </a:bodyPr>
          <a:lstStyle/>
          <a:p>
            <a:pPr algn="l"/>
            <a:r>
              <a:rPr sz="850">
                <a:solidFill>
                  <a:srgbClr val="5A6A9A"/>
                </a:solidFill>
                <a:latin typeface="Calibri"/>
              </a:rPr>
              <a:t>messages · retrieval_traces
usage_metrics</a:t>
            </a:r>
          </a:p>
        </p:txBody>
      </p:sp>
      <p:sp>
        <p:nvSpPr>
          <p:cNvPr id="106" name="Rectangle 105"/>
          <p:cNvSpPr/>
          <p:nvPr/>
        </p:nvSpPr>
        <p:spPr>
          <a:xfrm>
            <a:off x="1588" y="6601968"/>
            <a:ext cx="12188952" cy="256032"/>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7" name="TextBox 106"/>
          <p:cNvSpPr txBox="1"/>
          <p:nvPr/>
        </p:nvSpPr>
        <p:spPr>
          <a:xfrm>
            <a:off x="458788" y="6629400"/>
            <a:ext cx="10972800" cy="215444"/>
          </a:xfrm>
          <a:prstGeom prst="rect">
            <a:avLst/>
          </a:prstGeom>
          <a:noFill/>
        </p:spPr>
        <p:txBody>
          <a:bodyPr wrap="square">
            <a:spAutoFit/>
          </a:bodyPr>
          <a:lstStyle/>
          <a:p>
            <a:pPr algn="l"/>
            <a:r>
              <a:rPr sz="800">
                <a:solidFill>
                  <a:srgbClr val="8AAEF8"/>
                </a:solidFill>
                <a:latin typeface="Calibri"/>
              </a:rPr>
              <a:t>RAG Pipeline for AI/ML Knowledge  .  POC</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588" y="0"/>
            <a:ext cx="12188952" cy="10058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8788" y="164593"/>
            <a:ext cx="4572000" cy="246221"/>
          </a:xfrm>
          <a:prstGeom prst="rect">
            <a:avLst/>
          </a:prstGeom>
          <a:noFill/>
        </p:spPr>
        <p:txBody>
          <a:bodyPr wrap="square">
            <a:spAutoFit/>
          </a:bodyPr>
          <a:lstStyle/>
          <a:p>
            <a:pPr algn="l"/>
            <a:r>
              <a:rPr sz="1000" b="1">
                <a:solidFill>
                  <a:srgbClr val="8AAEF8"/>
                </a:solidFill>
                <a:latin typeface="Calibri"/>
              </a:rPr>
              <a:t>PROJECT STRUCTURE</a:t>
            </a:r>
          </a:p>
        </p:txBody>
      </p:sp>
      <p:sp>
        <p:nvSpPr>
          <p:cNvPr id="5" name="TextBox 4"/>
          <p:cNvSpPr txBox="1"/>
          <p:nvPr/>
        </p:nvSpPr>
        <p:spPr>
          <a:xfrm>
            <a:off x="458788" y="475488"/>
            <a:ext cx="9144000" cy="400110"/>
          </a:xfrm>
          <a:prstGeom prst="rect">
            <a:avLst/>
          </a:prstGeom>
          <a:noFill/>
        </p:spPr>
        <p:txBody>
          <a:bodyPr wrap="square">
            <a:spAutoFit/>
          </a:bodyPr>
          <a:lstStyle/>
          <a:p>
            <a:pPr algn="l"/>
            <a:r>
              <a:rPr sz="2000" b="1">
                <a:solidFill>
                  <a:srgbClr val="FFFFFF"/>
                </a:solidFill>
                <a:latin typeface="Calibri"/>
              </a:rPr>
              <a:t>Modular Python package — one responsibility per file</a:t>
            </a:r>
          </a:p>
        </p:txBody>
      </p:sp>
      <p:sp>
        <p:nvSpPr>
          <p:cNvPr id="6" name="TextBox 5"/>
          <p:cNvSpPr txBox="1"/>
          <p:nvPr/>
        </p:nvSpPr>
        <p:spPr>
          <a:xfrm>
            <a:off x="458788" y="1078992"/>
            <a:ext cx="10972800" cy="253916"/>
          </a:xfrm>
          <a:prstGeom prst="rect">
            <a:avLst/>
          </a:prstGeom>
          <a:noFill/>
        </p:spPr>
        <p:txBody>
          <a:bodyPr wrap="square">
            <a:spAutoFit/>
          </a:bodyPr>
          <a:lstStyle/>
          <a:p>
            <a:pPr algn="l"/>
            <a:r>
              <a:rPr sz="1050" i="1">
                <a:solidFill>
                  <a:srgbClr val="5A6A9A"/>
                </a:solidFill>
                <a:latin typeface="Calibri"/>
              </a:rPr>
              <a:t>Evolved from a Jupyter notebook into a layered production structure with clean module boundaries</a:t>
            </a:r>
          </a:p>
        </p:txBody>
      </p:sp>
      <p:sp>
        <p:nvSpPr>
          <p:cNvPr id="7" name="Rectangle 6"/>
          <p:cNvSpPr/>
          <p:nvPr/>
        </p:nvSpPr>
        <p:spPr>
          <a:xfrm>
            <a:off x="367348" y="1444752"/>
            <a:ext cx="11457432" cy="658368"/>
          </a:xfrm>
          <a:prstGeom prst="rect">
            <a:avLst/>
          </a:prstGeom>
          <a:solidFill>
            <a:srgbClr val="FFFFFF"/>
          </a:solidFill>
          <a:ln w="12700">
            <a:solidFill>
              <a:srgbClr val="D0D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367348" y="1444752"/>
            <a:ext cx="64008" cy="65836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31940" y="1508761"/>
            <a:ext cx="822960" cy="238527"/>
          </a:xfrm>
          <a:prstGeom prst="rect">
            <a:avLst/>
          </a:prstGeom>
          <a:noFill/>
        </p:spPr>
        <p:txBody>
          <a:bodyPr wrap="square">
            <a:spAutoFit/>
          </a:bodyPr>
          <a:lstStyle/>
          <a:p>
            <a:pPr algn="l"/>
            <a:r>
              <a:rPr sz="950" b="1">
                <a:solidFill>
                  <a:srgbClr val="1E2761"/>
                </a:solidFill>
                <a:latin typeface="Calibri"/>
              </a:rPr>
              <a:t>/ root</a:t>
            </a:r>
          </a:p>
        </p:txBody>
      </p:sp>
      <p:sp>
        <p:nvSpPr>
          <p:cNvPr id="10" name="Rectangle 9"/>
          <p:cNvSpPr/>
          <p:nvPr/>
        </p:nvSpPr>
        <p:spPr>
          <a:xfrm>
            <a:off x="1464628" y="1609344"/>
            <a:ext cx="59436" cy="59436"/>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574356" y="1527048"/>
            <a:ext cx="2423160" cy="246888"/>
          </a:xfrm>
          <a:prstGeom prst="rect">
            <a:avLst/>
          </a:prstGeom>
          <a:noFill/>
        </p:spPr>
        <p:txBody>
          <a:bodyPr wrap="square">
            <a:spAutoFit/>
          </a:bodyPr>
          <a:lstStyle/>
          <a:p>
            <a:pPr algn="l"/>
            <a:r>
              <a:rPr sz="1000" b="1">
                <a:solidFill>
                  <a:srgbClr val="1A1A2E"/>
                </a:solidFill>
                <a:latin typeface="Calibri"/>
              </a:rPr>
              <a:t>config.py</a:t>
            </a:r>
          </a:p>
        </p:txBody>
      </p:sp>
      <p:sp>
        <p:nvSpPr>
          <p:cNvPr id="12" name="TextBox 11"/>
          <p:cNvSpPr txBox="1"/>
          <p:nvPr/>
        </p:nvSpPr>
        <p:spPr>
          <a:xfrm>
            <a:off x="1574356" y="1764792"/>
            <a:ext cx="2423160" cy="228600"/>
          </a:xfrm>
          <a:prstGeom prst="rect">
            <a:avLst/>
          </a:prstGeom>
          <a:noFill/>
        </p:spPr>
        <p:txBody>
          <a:bodyPr wrap="square">
            <a:spAutoFit/>
          </a:bodyPr>
          <a:lstStyle/>
          <a:p>
            <a:pPr algn="l"/>
            <a:r>
              <a:rPr sz="850">
                <a:solidFill>
                  <a:srgbClr val="6A7A9A"/>
                </a:solidFill>
                <a:latin typeface="Calibri"/>
              </a:rPr>
              <a:t>Settings, model names, paths, API keys</a:t>
            </a:r>
          </a:p>
        </p:txBody>
      </p:sp>
      <p:sp>
        <p:nvSpPr>
          <p:cNvPr id="13" name="Rectangle 12"/>
          <p:cNvSpPr/>
          <p:nvPr/>
        </p:nvSpPr>
        <p:spPr>
          <a:xfrm>
            <a:off x="3979227" y="1609344"/>
            <a:ext cx="59436" cy="59436"/>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88956" y="1527048"/>
            <a:ext cx="2423160" cy="246888"/>
          </a:xfrm>
          <a:prstGeom prst="rect">
            <a:avLst/>
          </a:prstGeom>
          <a:noFill/>
        </p:spPr>
        <p:txBody>
          <a:bodyPr wrap="square">
            <a:spAutoFit/>
          </a:bodyPr>
          <a:lstStyle/>
          <a:p>
            <a:pPr algn="l"/>
            <a:r>
              <a:rPr sz="1000" b="1">
                <a:solidFill>
                  <a:srgbClr val="1A1A2E"/>
                </a:solidFill>
                <a:latin typeface="Calibri"/>
              </a:rPr>
              <a:t>main.py</a:t>
            </a:r>
          </a:p>
        </p:txBody>
      </p:sp>
      <p:sp>
        <p:nvSpPr>
          <p:cNvPr id="15" name="TextBox 14"/>
          <p:cNvSpPr txBox="1"/>
          <p:nvPr/>
        </p:nvSpPr>
        <p:spPr>
          <a:xfrm>
            <a:off x="4088956" y="1764792"/>
            <a:ext cx="2423160" cy="228600"/>
          </a:xfrm>
          <a:prstGeom prst="rect">
            <a:avLst/>
          </a:prstGeom>
          <a:noFill/>
        </p:spPr>
        <p:txBody>
          <a:bodyPr wrap="square">
            <a:spAutoFit/>
          </a:bodyPr>
          <a:lstStyle/>
          <a:p>
            <a:pPr algn="l"/>
            <a:r>
              <a:rPr sz="850">
                <a:solidFill>
                  <a:srgbClr val="6A7A9A"/>
                </a:solidFill>
                <a:latin typeface="Calibri"/>
              </a:rPr>
              <a:t>CLI entry:  --mode ingest | query</a:t>
            </a:r>
          </a:p>
        </p:txBody>
      </p:sp>
      <p:sp>
        <p:nvSpPr>
          <p:cNvPr id="16" name="Rectangle 15"/>
          <p:cNvSpPr/>
          <p:nvPr/>
        </p:nvSpPr>
        <p:spPr>
          <a:xfrm>
            <a:off x="6493828" y="1609344"/>
            <a:ext cx="59436" cy="59436"/>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603556" y="1527048"/>
            <a:ext cx="2423160" cy="246888"/>
          </a:xfrm>
          <a:prstGeom prst="rect">
            <a:avLst/>
          </a:prstGeom>
          <a:noFill/>
        </p:spPr>
        <p:txBody>
          <a:bodyPr wrap="square">
            <a:spAutoFit/>
          </a:bodyPr>
          <a:lstStyle/>
          <a:p>
            <a:pPr algn="l"/>
            <a:r>
              <a:rPr sz="1000" b="1">
                <a:solidFill>
                  <a:srgbClr val="1A1A2E"/>
                </a:solidFill>
                <a:latin typeface="Calibri"/>
              </a:rPr>
              <a:t>api.py</a:t>
            </a:r>
          </a:p>
        </p:txBody>
      </p:sp>
      <p:sp>
        <p:nvSpPr>
          <p:cNvPr id="18" name="TextBox 17"/>
          <p:cNvSpPr txBox="1"/>
          <p:nvPr/>
        </p:nvSpPr>
        <p:spPr>
          <a:xfrm>
            <a:off x="6603556" y="1764792"/>
            <a:ext cx="2423160" cy="228600"/>
          </a:xfrm>
          <a:prstGeom prst="rect">
            <a:avLst/>
          </a:prstGeom>
          <a:noFill/>
        </p:spPr>
        <p:txBody>
          <a:bodyPr wrap="square">
            <a:spAutoFit/>
          </a:bodyPr>
          <a:lstStyle/>
          <a:p>
            <a:pPr algn="l"/>
            <a:r>
              <a:rPr sz="850">
                <a:solidFill>
                  <a:srgbClr val="6A7A9A"/>
                </a:solidFill>
                <a:latin typeface="Calibri"/>
              </a:rPr>
              <a:t>FastAPI, lifespan startup, /query + /sessions</a:t>
            </a:r>
          </a:p>
        </p:txBody>
      </p:sp>
      <p:sp>
        <p:nvSpPr>
          <p:cNvPr id="19" name="Rectangle 18"/>
          <p:cNvSpPr/>
          <p:nvPr/>
        </p:nvSpPr>
        <p:spPr>
          <a:xfrm>
            <a:off x="9008428" y="1609344"/>
            <a:ext cx="59436" cy="59436"/>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18155" y="1527048"/>
            <a:ext cx="2423160" cy="246888"/>
          </a:xfrm>
          <a:prstGeom prst="rect">
            <a:avLst/>
          </a:prstGeom>
          <a:noFill/>
        </p:spPr>
        <p:txBody>
          <a:bodyPr wrap="square">
            <a:spAutoFit/>
          </a:bodyPr>
          <a:lstStyle/>
          <a:p>
            <a:pPr algn="l"/>
            <a:r>
              <a:rPr sz="1000" b="1">
                <a:solidFill>
                  <a:srgbClr val="1A1A2E"/>
                </a:solidFill>
                <a:latin typeface="Calibri"/>
              </a:rPr>
              <a:t>frontend.py</a:t>
            </a:r>
          </a:p>
        </p:txBody>
      </p:sp>
      <p:sp>
        <p:nvSpPr>
          <p:cNvPr id="21" name="TextBox 20"/>
          <p:cNvSpPr txBox="1"/>
          <p:nvPr/>
        </p:nvSpPr>
        <p:spPr>
          <a:xfrm>
            <a:off x="9118155" y="1764792"/>
            <a:ext cx="2423160" cy="228600"/>
          </a:xfrm>
          <a:prstGeom prst="rect">
            <a:avLst/>
          </a:prstGeom>
          <a:noFill/>
        </p:spPr>
        <p:txBody>
          <a:bodyPr wrap="square">
            <a:spAutoFit/>
          </a:bodyPr>
          <a:lstStyle/>
          <a:p>
            <a:pPr algn="l"/>
            <a:r>
              <a:rPr sz="850">
                <a:solidFill>
                  <a:srgbClr val="6A7A9A"/>
                </a:solidFill>
                <a:latin typeface="Calibri"/>
              </a:rPr>
              <a:t>Streamlit UI, chat threads, retrieval panel</a:t>
            </a:r>
          </a:p>
        </p:txBody>
      </p:sp>
      <p:sp>
        <p:nvSpPr>
          <p:cNvPr id="22" name="Rectangle 21"/>
          <p:cNvSpPr/>
          <p:nvPr/>
        </p:nvSpPr>
        <p:spPr>
          <a:xfrm>
            <a:off x="367348" y="2212848"/>
            <a:ext cx="2724912" cy="2121408"/>
          </a:xfrm>
          <a:prstGeom prst="rect">
            <a:avLst/>
          </a:prstGeom>
          <a:solidFill>
            <a:srgbClr val="FFFFFF"/>
          </a:solidFill>
          <a:ln w="12700">
            <a:solidFill>
              <a:srgbClr val="D0D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67348" y="2212848"/>
            <a:ext cx="2724912" cy="347472"/>
          </a:xfrm>
          <a:prstGeom prst="rect">
            <a:avLst/>
          </a:prstGeom>
          <a:solidFill>
            <a:srgbClr val="E8ED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67348" y="2212848"/>
            <a:ext cx="64008" cy="212140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4508" y="2286001"/>
            <a:ext cx="2523744" cy="276999"/>
          </a:xfrm>
          <a:prstGeom prst="rect">
            <a:avLst/>
          </a:prstGeom>
          <a:noFill/>
        </p:spPr>
        <p:txBody>
          <a:bodyPr wrap="square">
            <a:spAutoFit/>
          </a:bodyPr>
          <a:lstStyle/>
          <a:p>
            <a:pPr algn="l"/>
            <a:r>
              <a:rPr sz="1200" b="1">
                <a:solidFill>
                  <a:srgbClr val="1E2761"/>
                </a:solidFill>
                <a:latin typeface="Calibri"/>
              </a:rPr>
              <a:t>ingestion/</a:t>
            </a:r>
          </a:p>
        </p:txBody>
      </p:sp>
      <p:sp>
        <p:nvSpPr>
          <p:cNvPr id="26" name="TextBox 25"/>
          <p:cNvSpPr txBox="1"/>
          <p:nvPr/>
        </p:nvSpPr>
        <p:spPr>
          <a:xfrm>
            <a:off x="504508" y="2596896"/>
            <a:ext cx="2523744" cy="237744"/>
          </a:xfrm>
          <a:prstGeom prst="rect">
            <a:avLst/>
          </a:prstGeom>
          <a:noFill/>
        </p:spPr>
        <p:txBody>
          <a:bodyPr wrap="square">
            <a:spAutoFit/>
          </a:bodyPr>
          <a:lstStyle/>
          <a:p>
            <a:pPr algn="l"/>
            <a:r>
              <a:rPr sz="950" i="1">
                <a:solidFill>
                  <a:srgbClr val="5A6A9A"/>
                </a:solidFill>
                <a:latin typeface="Calibri"/>
              </a:rPr>
              <a:t>Load -&gt; Chunk -&gt; Enrich metadata</a:t>
            </a:r>
          </a:p>
        </p:txBody>
      </p:sp>
      <p:sp>
        <p:nvSpPr>
          <p:cNvPr id="27" name="Rectangle 26"/>
          <p:cNvSpPr/>
          <p:nvPr/>
        </p:nvSpPr>
        <p:spPr>
          <a:xfrm>
            <a:off x="550228" y="2971800"/>
            <a:ext cx="54864" cy="54864"/>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87388" y="2889504"/>
            <a:ext cx="2267712" cy="246888"/>
          </a:xfrm>
          <a:prstGeom prst="rect">
            <a:avLst/>
          </a:prstGeom>
          <a:noFill/>
        </p:spPr>
        <p:txBody>
          <a:bodyPr wrap="square">
            <a:spAutoFit/>
          </a:bodyPr>
          <a:lstStyle/>
          <a:p>
            <a:pPr algn="l"/>
            <a:r>
              <a:rPr sz="1000" b="1">
                <a:solidFill>
                  <a:srgbClr val="1A1A2E"/>
                </a:solidFill>
                <a:latin typeface="Calibri"/>
              </a:rPr>
              <a:t>loader.py</a:t>
            </a:r>
          </a:p>
        </p:txBody>
      </p:sp>
      <p:sp>
        <p:nvSpPr>
          <p:cNvPr id="29" name="TextBox 28"/>
          <p:cNvSpPr txBox="1"/>
          <p:nvPr/>
        </p:nvSpPr>
        <p:spPr>
          <a:xfrm>
            <a:off x="687388" y="3136392"/>
            <a:ext cx="2267712" cy="228600"/>
          </a:xfrm>
          <a:prstGeom prst="rect">
            <a:avLst/>
          </a:prstGeom>
          <a:noFill/>
        </p:spPr>
        <p:txBody>
          <a:bodyPr wrap="square">
            <a:spAutoFit/>
          </a:bodyPr>
          <a:lstStyle/>
          <a:p>
            <a:pPr algn="l"/>
            <a:r>
              <a:rPr sz="850">
                <a:solidFill>
                  <a:srgbClr val="6A7A9A"/>
                </a:solidFill>
                <a:latin typeface="Calibri"/>
              </a:rPr>
              <a:t>PDF + TXT via DirectoryLoader</a:t>
            </a:r>
          </a:p>
        </p:txBody>
      </p:sp>
      <p:sp>
        <p:nvSpPr>
          <p:cNvPr id="30" name="Rectangle 29"/>
          <p:cNvSpPr/>
          <p:nvPr/>
        </p:nvSpPr>
        <p:spPr>
          <a:xfrm>
            <a:off x="550228" y="3465576"/>
            <a:ext cx="54864" cy="54864"/>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7388" y="3383280"/>
            <a:ext cx="2267712" cy="246888"/>
          </a:xfrm>
          <a:prstGeom prst="rect">
            <a:avLst/>
          </a:prstGeom>
          <a:noFill/>
        </p:spPr>
        <p:txBody>
          <a:bodyPr wrap="square">
            <a:spAutoFit/>
          </a:bodyPr>
          <a:lstStyle/>
          <a:p>
            <a:pPr algn="l"/>
            <a:r>
              <a:rPr sz="1000" b="1">
                <a:solidFill>
                  <a:srgbClr val="1A1A2E"/>
                </a:solidFill>
                <a:latin typeface="Calibri"/>
              </a:rPr>
              <a:t>chunker.py</a:t>
            </a:r>
          </a:p>
        </p:txBody>
      </p:sp>
      <p:sp>
        <p:nvSpPr>
          <p:cNvPr id="32" name="TextBox 31"/>
          <p:cNvSpPr txBox="1"/>
          <p:nvPr/>
        </p:nvSpPr>
        <p:spPr>
          <a:xfrm>
            <a:off x="687388" y="3630168"/>
            <a:ext cx="2267712" cy="228600"/>
          </a:xfrm>
          <a:prstGeom prst="rect">
            <a:avLst/>
          </a:prstGeom>
          <a:noFill/>
        </p:spPr>
        <p:txBody>
          <a:bodyPr wrap="square">
            <a:spAutoFit/>
          </a:bodyPr>
          <a:lstStyle/>
          <a:p>
            <a:pPr algn="l"/>
            <a:r>
              <a:rPr sz="850">
                <a:solidFill>
                  <a:srgbClr val="6A7A9A"/>
                </a:solidFill>
                <a:latin typeface="Calibri"/>
              </a:rPr>
              <a:t>3000-char chunks, 500 overlap</a:t>
            </a:r>
          </a:p>
        </p:txBody>
      </p:sp>
      <p:sp>
        <p:nvSpPr>
          <p:cNvPr id="33" name="Rectangle 32"/>
          <p:cNvSpPr/>
          <p:nvPr/>
        </p:nvSpPr>
        <p:spPr>
          <a:xfrm>
            <a:off x="550228" y="3959352"/>
            <a:ext cx="54864" cy="54864"/>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87388" y="3877056"/>
            <a:ext cx="2267712" cy="246888"/>
          </a:xfrm>
          <a:prstGeom prst="rect">
            <a:avLst/>
          </a:prstGeom>
          <a:noFill/>
        </p:spPr>
        <p:txBody>
          <a:bodyPr wrap="square">
            <a:spAutoFit/>
          </a:bodyPr>
          <a:lstStyle/>
          <a:p>
            <a:pPr algn="l"/>
            <a:r>
              <a:rPr sz="1000" b="1">
                <a:solidFill>
                  <a:srgbClr val="1A1A2E"/>
                </a:solidFill>
                <a:latin typeface="Calibri"/>
              </a:rPr>
              <a:t>enricher.py</a:t>
            </a:r>
          </a:p>
        </p:txBody>
      </p:sp>
      <p:sp>
        <p:nvSpPr>
          <p:cNvPr id="35" name="TextBox 34"/>
          <p:cNvSpPr txBox="1"/>
          <p:nvPr/>
        </p:nvSpPr>
        <p:spPr>
          <a:xfrm>
            <a:off x="687388" y="4123944"/>
            <a:ext cx="2267712" cy="228600"/>
          </a:xfrm>
          <a:prstGeom prst="rect">
            <a:avLst/>
          </a:prstGeom>
          <a:noFill/>
        </p:spPr>
        <p:txBody>
          <a:bodyPr wrap="square">
            <a:spAutoFit/>
          </a:bodyPr>
          <a:lstStyle/>
          <a:p>
            <a:pPr algn="l"/>
            <a:r>
              <a:rPr sz="850">
                <a:solidFill>
                  <a:srgbClr val="6A7A9A"/>
                </a:solidFill>
                <a:latin typeface="Calibri"/>
              </a:rPr>
              <a:t>OpenAI LLM: topics, concepts, difficulty</a:t>
            </a:r>
          </a:p>
        </p:txBody>
      </p:sp>
      <p:sp>
        <p:nvSpPr>
          <p:cNvPr id="36" name="Rectangle 35"/>
          <p:cNvSpPr/>
          <p:nvPr/>
        </p:nvSpPr>
        <p:spPr>
          <a:xfrm>
            <a:off x="3229420" y="2212848"/>
            <a:ext cx="2724912" cy="2121408"/>
          </a:xfrm>
          <a:prstGeom prst="rect">
            <a:avLst/>
          </a:prstGeom>
          <a:solidFill>
            <a:srgbClr val="FFFFFF"/>
          </a:solidFill>
          <a:ln w="12700">
            <a:solidFill>
              <a:srgbClr val="D0D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3229420" y="2212848"/>
            <a:ext cx="2724912" cy="347472"/>
          </a:xfrm>
          <a:prstGeom prst="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3229420" y="2212848"/>
            <a:ext cx="64008" cy="2121408"/>
          </a:xfrm>
          <a:prstGeom prst="rect">
            <a:avLst/>
          </a:prstGeom>
          <a:solidFill>
            <a:srgbClr val="7C5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3366579" y="2286001"/>
            <a:ext cx="2523744" cy="276999"/>
          </a:xfrm>
          <a:prstGeom prst="rect">
            <a:avLst/>
          </a:prstGeom>
          <a:noFill/>
        </p:spPr>
        <p:txBody>
          <a:bodyPr wrap="square">
            <a:spAutoFit/>
          </a:bodyPr>
          <a:lstStyle/>
          <a:p>
            <a:pPr algn="l"/>
            <a:r>
              <a:rPr sz="1200" b="1">
                <a:solidFill>
                  <a:srgbClr val="7C5CBF"/>
                </a:solidFill>
                <a:latin typeface="Calibri"/>
              </a:rPr>
              <a:t>retrieval/</a:t>
            </a:r>
          </a:p>
        </p:txBody>
      </p:sp>
      <p:sp>
        <p:nvSpPr>
          <p:cNvPr id="40" name="TextBox 39"/>
          <p:cNvSpPr txBox="1"/>
          <p:nvPr/>
        </p:nvSpPr>
        <p:spPr>
          <a:xfrm>
            <a:off x="3366579" y="2596896"/>
            <a:ext cx="2523744" cy="237744"/>
          </a:xfrm>
          <a:prstGeom prst="rect">
            <a:avLst/>
          </a:prstGeom>
          <a:noFill/>
        </p:spPr>
        <p:txBody>
          <a:bodyPr wrap="square">
            <a:spAutoFit/>
          </a:bodyPr>
          <a:lstStyle/>
          <a:p>
            <a:pPr algn="l"/>
            <a:r>
              <a:rPr sz="950" i="1">
                <a:solidFill>
                  <a:srgbClr val="5A6A9A"/>
                </a:solidFill>
                <a:latin typeface="Calibri"/>
              </a:rPr>
              <a:t>Two-stage retrieval + reranking</a:t>
            </a:r>
          </a:p>
        </p:txBody>
      </p:sp>
      <p:sp>
        <p:nvSpPr>
          <p:cNvPr id="41" name="Rectangle 40"/>
          <p:cNvSpPr/>
          <p:nvPr/>
        </p:nvSpPr>
        <p:spPr>
          <a:xfrm>
            <a:off x="3412300" y="2971800"/>
            <a:ext cx="54864" cy="54864"/>
          </a:xfrm>
          <a:prstGeom prst="rect">
            <a:avLst/>
          </a:prstGeom>
          <a:solidFill>
            <a:srgbClr val="7C5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549460" y="2889504"/>
            <a:ext cx="2267712" cy="246888"/>
          </a:xfrm>
          <a:prstGeom prst="rect">
            <a:avLst/>
          </a:prstGeom>
          <a:noFill/>
        </p:spPr>
        <p:txBody>
          <a:bodyPr wrap="square">
            <a:spAutoFit/>
          </a:bodyPr>
          <a:lstStyle/>
          <a:p>
            <a:pPr algn="l"/>
            <a:r>
              <a:rPr sz="1000" b="1">
                <a:solidFill>
                  <a:srgbClr val="1A1A2E"/>
                </a:solidFill>
                <a:latin typeface="Calibri"/>
              </a:rPr>
              <a:t>vectorstore.py</a:t>
            </a:r>
          </a:p>
        </p:txBody>
      </p:sp>
      <p:sp>
        <p:nvSpPr>
          <p:cNvPr id="43" name="TextBox 42"/>
          <p:cNvSpPr txBox="1"/>
          <p:nvPr/>
        </p:nvSpPr>
        <p:spPr>
          <a:xfrm>
            <a:off x="3549460" y="3136392"/>
            <a:ext cx="2267712" cy="228600"/>
          </a:xfrm>
          <a:prstGeom prst="rect">
            <a:avLst/>
          </a:prstGeom>
          <a:noFill/>
        </p:spPr>
        <p:txBody>
          <a:bodyPr wrap="square">
            <a:spAutoFit/>
          </a:bodyPr>
          <a:lstStyle/>
          <a:p>
            <a:pPr algn="l"/>
            <a:r>
              <a:rPr sz="850">
                <a:solidFill>
                  <a:srgbClr val="6A7A9A"/>
                </a:solidFill>
                <a:latin typeface="Calibri"/>
              </a:rPr>
              <a:t>FAISS IndexFlatL2, build &amp; load</a:t>
            </a:r>
          </a:p>
        </p:txBody>
      </p:sp>
      <p:sp>
        <p:nvSpPr>
          <p:cNvPr id="44" name="Rectangle 43"/>
          <p:cNvSpPr/>
          <p:nvPr/>
        </p:nvSpPr>
        <p:spPr>
          <a:xfrm>
            <a:off x="3412300" y="3465576"/>
            <a:ext cx="54864" cy="54864"/>
          </a:xfrm>
          <a:prstGeom prst="rect">
            <a:avLst/>
          </a:prstGeom>
          <a:solidFill>
            <a:srgbClr val="7C5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549460" y="3383280"/>
            <a:ext cx="2267712" cy="246888"/>
          </a:xfrm>
          <a:prstGeom prst="rect">
            <a:avLst/>
          </a:prstGeom>
          <a:noFill/>
        </p:spPr>
        <p:txBody>
          <a:bodyPr wrap="square">
            <a:spAutoFit/>
          </a:bodyPr>
          <a:lstStyle/>
          <a:p>
            <a:pPr algn="l"/>
            <a:r>
              <a:rPr sz="1000" b="1">
                <a:solidFill>
                  <a:srgbClr val="1A1A2E"/>
                </a:solidFill>
                <a:latin typeface="Calibri"/>
              </a:rPr>
              <a:t>reranker.py</a:t>
            </a:r>
          </a:p>
        </p:txBody>
      </p:sp>
      <p:sp>
        <p:nvSpPr>
          <p:cNvPr id="46" name="TextBox 45"/>
          <p:cNvSpPr txBox="1"/>
          <p:nvPr/>
        </p:nvSpPr>
        <p:spPr>
          <a:xfrm>
            <a:off x="3549460" y="3630168"/>
            <a:ext cx="2267712" cy="228600"/>
          </a:xfrm>
          <a:prstGeom prst="rect">
            <a:avLst/>
          </a:prstGeom>
          <a:noFill/>
        </p:spPr>
        <p:txBody>
          <a:bodyPr wrap="square">
            <a:spAutoFit/>
          </a:bodyPr>
          <a:lstStyle/>
          <a:p>
            <a:pPr algn="l"/>
            <a:r>
              <a:rPr sz="850">
                <a:solidFill>
                  <a:srgbClr val="6A7A9A"/>
                </a:solidFill>
                <a:latin typeface="Calibri"/>
              </a:rPr>
              <a:t>k=20 vector search -&gt; CrossEncoder -&gt; top 5</a:t>
            </a:r>
          </a:p>
        </p:txBody>
      </p:sp>
      <p:sp>
        <p:nvSpPr>
          <p:cNvPr id="47" name="Rectangle 46"/>
          <p:cNvSpPr/>
          <p:nvPr/>
        </p:nvSpPr>
        <p:spPr>
          <a:xfrm>
            <a:off x="6091492" y="2212848"/>
            <a:ext cx="2724912" cy="2121408"/>
          </a:xfrm>
          <a:prstGeom prst="rect">
            <a:avLst/>
          </a:prstGeom>
          <a:solidFill>
            <a:srgbClr val="FFFFFF"/>
          </a:solidFill>
          <a:ln w="12700">
            <a:solidFill>
              <a:srgbClr val="D0D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6091492" y="2212848"/>
            <a:ext cx="2724912" cy="347472"/>
          </a:xfrm>
          <a:prstGeom prst="rect">
            <a:avLst/>
          </a:prstGeom>
          <a:solidFill>
            <a:srgbClr val="E8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6091492" y="2212848"/>
            <a:ext cx="64008" cy="2121408"/>
          </a:xfrm>
          <a:prstGeom prst="rect">
            <a:avLst/>
          </a:prstGeom>
          <a:solidFill>
            <a:srgbClr val="1E7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228652" y="2286001"/>
            <a:ext cx="2523744" cy="276999"/>
          </a:xfrm>
          <a:prstGeom prst="rect">
            <a:avLst/>
          </a:prstGeom>
          <a:noFill/>
        </p:spPr>
        <p:txBody>
          <a:bodyPr wrap="square">
            <a:spAutoFit/>
          </a:bodyPr>
          <a:lstStyle/>
          <a:p>
            <a:pPr algn="l"/>
            <a:r>
              <a:rPr sz="1200" b="1">
                <a:solidFill>
                  <a:srgbClr val="1E7A4E"/>
                </a:solidFill>
                <a:latin typeface="Calibri"/>
              </a:rPr>
              <a:t>generation/</a:t>
            </a:r>
          </a:p>
        </p:txBody>
      </p:sp>
      <p:sp>
        <p:nvSpPr>
          <p:cNvPr id="51" name="TextBox 50"/>
          <p:cNvSpPr txBox="1"/>
          <p:nvPr/>
        </p:nvSpPr>
        <p:spPr>
          <a:xfrm>
            <a:off x="6228652" y="2596896"/>
            <a:ext cx="2523744" cy="237744"/>
          </a:xfrm>
          <a:prstGeom prst="rect">
            <a:avLst/>
          </a:prstGeom>
          <a:noFill/>
        </p:spPr>
        <p:txBody>
          <a:bodyPr wrap="square">
            <a:spAutoFit/>
          </a:bodyPr>
          <a:lstStyle/>
          <a:p>
            <a:pPr algn="l"/>
            <a:r>
              <a:rPr sz="950" i="1">
                <a:solidFill>
                  <a:srgbClr val="5A6A9A"/>
                </a:solidFill>
                <a:latin typeface="Calibri"/>
              </a:rPr>
              <a:t>Prompt -&gt; LLM -&gt; cited answer</a:t>
            </a:r>
          </a:p>
        </p:txBody>
      </p:sp>
      <p:sp>
        <p:nvSpPr>
          <p:cNvPr id="52" name="Rectangle 51"/>
          <p:cNvSpPr/>
          <p:nvPr/>
        </p:nvSpPr>
        <p:spPr>
          <a:xfrm>
            <a:off x="6274372" y="2971800"/>
            <a:ext cx="54864" cy="54864"/>
          </a:xfrm>
          <a:prstGeom prst="rect">
            <a:avLst/>
          </a:prstGeom>
          <a:solidFill>
            <a:srgbClr val="1E7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6411532" y="2889504"/>
            <a:ext cx="2267712" cy="246888"/>
          </a:xfrm>
          <a:prstGeom prst="rect">
            <a:avLst/>
          </a:prstGeom>
          <a:noFill/>
        </p:spPr>
        <p:txBody>
          <a:bodyPr wrap="square">
            <a:spAutoFit/>
          </a:bodyPr>
          <a:lstStyle/>
          <a:p>
            <a:pPr algn="l"/>
            <a:r>
              <a:rPr sz="1000" b="1">
                <a:solidFill>
                  <a:srgbClr val="1A1A2E"/>
                </a:solidFill>
                <a:latin typeface="Calibri"/>
              </a:rPr>
              <a:t>prompt.py</a:t>
            </a:r>
          </a:p>
        </p:txBody>
      </p:sp>
      <p:sp>
        <p:nvSpPr>
          <p:cNvPr id="54" name="TextBox 53"/>
          <p:cNvSpPr txBox="1"/>
          <p:nvPr/>
        </p:nvSpPr>
        <p:spPr>
          <a:xfrm>
            <a:off x="6411532" y="3136392"/>
            <a:ext cx="2267712" cy="228600"/>
          </a:xfrm>
          <a:prstGeom prst="rect">
            <a:avLst/>
          </a:prstGeom>
          <a:noFill/>
        </p:spPr>
        <p:txBody>
          <a:bodyPr wrap="square">
            <a:spAutoFit/>
          </a:bodyPr>
          <a:lstStyle/>
          <a:p>
            <a:pPr algn="l"/>
            <a:r>
              <a:rPr sz="850">
                <a:solidFill>
                  <a:srgbClr val="6A7A9A"/>
                </a:solidFill>
                <a:latin typeface="Calibri"/>
              </a:rPr>
              <a:t>RAG system prompt, [Source N] citations</a:t>
            </a:r>
          </a:p>
        </p:txBody>
      </p:sp>
      <p:sp>
        <p:nvSpPr>
          <p:cNvPr id="55" name="Rectangle 54"/>
          <p:cNvSpPr/>
          <p:nvPr/>
        </p:nvSpPr>
        <p:spPr>
          <a:xfrm>
            <a:off x="6274372" y="3465576"/>
            <a:ext cx="54864" cy="54864"/>
          </a:xfrm>
          <a:prstGeom prst="rect">
            <a:avLst/>
          </a:prstGeom>
          <a:solidFill>
            <a:srgbClr val="1E7A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411532" y="3383280"/>
            <a:ext cx="2267712" cy="246888"/>
          </a:xfrm>
          <a:prstGeom prst="rect">
            <a:avLst/>
          </a:prstGeom>
          <a:noFill/>
        </p:spPr>
        <p:txBody>
          <a:bodyPr wrap="square">
            <a:spAutoFit/>
          </a:bodyPr>
          <a:lstStyle/>
          <a:p>
            <a:pPr algn="l"/>
            <a:r>
              <a:rPr sz="1000" b="1">
                <a:solidFill>
                  <a:srgbClr val="1A1A2E"/>
                </a:solidFill>
                <a:latin typeface="Calibri"/>
              </a:rPr>
              <a:t>chain.py</a:t>
            </a:r>
          </a:p>
        </p:txBody>
      </p:sp>
      <p:sp>
        <p:nvSpPr>
          <p:cNvPr id="57" name="TextBox 56"/>
          <p:cNvSpPr txBox="1"/>
          <p:nvPr/>
        </p:nvSpPr>
        <p:spPr>
          <a:xfrm>
            <a:off x="6411532" y="3630168"/>
            <a:ext cx="2267712" cy="228600"/>
          </a:xfrm>
          <a:prstGeom prst="rect">
            <a:avLst/>
          </a:prstGeom>
          <a:noFill/>
        </p:spPr>
        <p:txBody>
          <a:bodyPr wrap="square">
            <a:spAutoFit/>
          </a:bodyPr>
          <a:lstStyle/>
          <a:p>
            <a:pPr algn="l"/>
            <a:r>
              <a:rPr sz="850">
                <a:solidFill>
                  <a:srgbClr val="6A7A9A"/>
                </a:solidFill>
                <a:latin typeface="Calibri"/>
              </a:rPr>
              <a:t>GPT-4o, token cost, latency logging</a:t>
            </a:r>
          </a:p>
        </p:txBody>
      </p:sp>
      <p:sp>
        <p:nvSpPr>
          <p:cNvPr id="58" name="Rectangle 57"/>
          <p:cNvSpPr/>
          <p:nvPr/>
        </p:nvSpPr>
        <p:spPr>
          <a:xfrm>
            <a:off x="8953564" y="2212848"/>
            <a:ext cx="2724912" cy="2121408"/>
          </a:xfrm>
          <a:prstGeom prst="rect">
            <a:avLst/>
          </a:prstGeom>
          <a:solidFill>
            <a:srgbClr val="FFFFFF"/>
          </a:solidFill>
          <a:ln w="12700">
            <a:solidFill>
              <a:srgbClr val="D0D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8953564" y="2212848"/>
            <a:ext cx="2724912" cy="347472"/>
          </a:xfrm>
          <a:prstGeom prst="rect">
            <a:avLst/>
          </a:prstGeom>
          <a:solidFill>
            <a:srgbClr val="FDF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8953564" y="2212848"/>
            <a:ext cx="64008" cy="2121408"/>
          </a:xfrm>
          <a:prstGeom prst="rect">
            <a:avLst/>
          </a:prstGeom>
          <a:solidFill>
            <a:srgbClr val="C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9090724" y="2286001"/>
            <a:ext cx="2523744" cy="276999"/>
          </a:xfrm>
          <a:prstGeom prst="rect">
            <a:avLst/>
          </a:prstGeom>
          <a:noFill/>
        </p:spPr>
        <p:txBody>
          <a:bodyPr wrap="square">
            <a:spAutoFit/>
          </a:bodyPr>
          <a:lstStyle/>
          <a:p>
            <a:pPr algn="l"/>
            <a:r>
              <a:rPr sz="1200" b="1">
                <a:solidFill>
                  <a:srgbClr val="C06010"/>
                </a:solidFill>
                <a:latin typeface="Calibri"/>
              </a:rPr>
              <a:t>memory/</a:t>
            </a:r>
          </a:p>
        </p:txBody>
      </p:sp>
      <p:sp>
        <p:nvSpPr>
          <p:cNvPr id="62" name="TextBox 61"/>
          <p:cNvSpPr txBox="1"/>
          <p:nvPr/>
        </p:nvSpPr>
        <p:spPr>
          <a:xfrm>
            <a:off x="9090724" y="2596896"/>
            <a:ext cx="2523744" cy="237744"/>
          </a:xfrm>
          <a:prstGeom prst="rect">
            <a:avLst/>
          </a:prstGeom>
          <a:noFill/>
        </p:spPr>
        <p:txBody>
          <a:bodyPr wrap="square">
            <a:spAutoFit/>
          </a:bodyPr>
          <a:lstStyle/>
          <a:p>
            <a:pPr algn="l"/>
            <a:r>
              <a:rPr sz="950" i="1">
                <a:solidFill>
                  <a:srgbClr val="5A6A9A"/>
                </a:solidFill>
                <a:latin typeface="Calibri"/>
              </a:rPr>
              <a:t>Conversation + retrieval persistence</a:t>
            </a:r>
          </a:p>
        </p:txBody>
      </p:sp>
      <p:sp>
        <p:nvSpPr>
          <p:cNvPr id="63" name="Rectangle 62"/>
          <p:cNvSpPr/>
          <p:nvPr/>
        </p:nvSpPr>
        <p:spPr>
          <a:xfrm>
            <a:off x="9136443" y="2971800"/>
            <a:ext cx="54864" cy="54864"/>
          </a:xfrm>
          <a:prstGeom prst="rect">
            <a:avLst/>
          </a:prstGeom>
          <a:solidFill>
            <a:srgbClr val="C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9273603" y="2889504"/>
            <a:ext cx="2267712" cy="246888"/>
          </a:xfrm>
          <a:prstGeom prst="rect">
            <a:avLst/>
          </a:prstGeom>
          <a:noFill/>
        </p:spPr>
        <p:txBody>
          <a:bodyPr wrap="square">
            <a:spAutoFit/>
          </a:bodyPr>
          <a:lstStyle/>
          <a:p>
            <a:pPr algn="l"/>
            <a:r>
              <a:rPr sz="1000" b="1">
                <a:solidFill>
                  <a:srgbClr val="1A1A2E"/>
                </a:solidFill>
                <a:latin typeface="Calibri"/>
              </a:rPr>
              <a:t>chat_history.py</a:t>
            </a:r>
          </a:p>
        </p:txBody>
      </p:sp>
      <p:sp>
        <p:nvSpPr>
          <p:cNvPr id="65" name="TextBox 64"/>
          <p:cNvSpPr txBox="1"/>
          <p:nvPr/>
        </p:nvSpPr>
        <p:spPr>
          <a:xfrm>
            <a:off x="9273603" y="3136393"/>
            <a:ext cx="2267712" cy="353943"/>
          </a:xfrm>
          <a:prstGeom prst="rect">
            <a:avLst/>
          </a:prstGeom>
          <a:noFill/>
        </p:spPr>
        <p:txBody>
          <a:bodyPr wrap="square">
            <a:spAutoFit/>
          </a:bodyPr>
          <a:lstStyle/>
          <a:p>
            <a:pPr algn="l"/>
            <a:r>
              <a:rPr sz="850">
                <a:solidFill>
                  <a:srgbClr val="6A7A9A"/>
                </a:solidFill>
                <a:latin typeface="Calibri"/>
              </a:rPr>
              <a:t>SQLite: messages, retrieval_traces, usage_metrics</a:t>
            </a:r>
          </a:p>
        </p:txBody>
      </p:sp>
      <p:sp>
        <p:nvSpPr>
          <p:cNvPr id="66" name="Rectangle 65"/>
          <p:cNvSpPr/>
          <p:nvPr/>
        </p:nvSpPr>
        <p:spPr>
          <a:xfrm>
            <a:off x="367348" y="4480560"/>
            <a:ext cx="2724912" cy="658368"/>
          </a:xfrm>
          <a:prstGeom prst="rect">
            <a:avLst/>
          </a:prstGeom>
          <a:solidFill>
            <a:srgbClr val="FFFFFF"/>
          </a:solidFill>
          <a:ln w="12700">
            <a:solidFill>
              <a:srgbClr val="D0D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367348" y="4480560"/>
            <a:ext cx="2724912" cy="274320"/>
          </a:xfrm>
          <a:prstGeom prst="rect">
            <a:avLst/>
          </a:prstGeom>
          <a:solidFill>
            <a:srgbClr val="E8ED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367348" y="4480560"/>
            <a:ext cx="64008" cy="65836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504508" y="4535424"/>
            <a:ext cx="2523744" cy="253916"/>
          </a:xfrm>
          <a:prstGeom prst="rect">
            <a:avLst/>
          </a:prstGeom>
          <a:noFill/>
        </p:spPr>
        <p:txBody>
          <a:bodyPr wrap="square">
            <a:spAutoFit/>
          </a:bodyPr>
          <a:lstStyle/>
          <a:p>
            <a:pPr algn="l"/>
            <a:r>
              <a:rPr sz="1050" b="1">
                <a:solidFill>
                  <a:srgbClr val="1E2761"/>
                </a:solidFill>
                <a:latin typeface="Calibri"/>
              </a:rPr>
              <a:t>data/</a:t>
            </a:r>
          </a:p>
        </p:txBody>
      </p:sp>
      <p:sp>
        <p:nvSpPr>
          <p:cNvPr id="70" name="TextBox 69"/>
          <p:cNvSpPr txBox="1"/>
          <p:nvPr/>
        </p:nvSpPr>
        <p:spPr>
          <a:xfrm>
            <a:off x="504508" y="4828032"/>
            <a:ext cx="2523744" cy="237744"/>
          </a:xfrm>
          <a:prstGeom prst="rect">
            <a:avLst/>
          </a:prstGeom>
          <a:noFill/>
        </p:spPr>
        <p:txBody>
          <a:bodyPr wrap="square">
            <a:spAutoFit/>
          </a:bodyPr>
          <a:lstStyle/>
          <a:p>
            <a:pPr algn="l"/>
            <a:r>
              <a:rPr sz="900">
                <a:solidFill>
                  <a:srgbClr val="6A7A9A"/>
                </a:solidFill>
                <a:latin typeface="Calibri"/>
              </a:rPr>
              <a:t>Source PDFs — AI/ML textbooks</a:t>
            </a:r>
          </a:p>
        </p:txBody>
      </p:sp>
      <p:sp>
        <p:nvSpPr>
          <p:cNvPr id="71" name="Rectangle 70"/>
          <p:cNvSpPr/>
          <p:nvPr/>
        </p:nvSpPr>
        <p:spPr>
          <a:xfrm>
            <a:off x="3229420" y="4480560"/>
            <a:ext cx="2724912" cy="658368"/>
          </a:xfrm>
          <a:prstGeom prst="rect">
            <a:avLst/>
          </a:prstGeom>
          <a:solidFill>
            <a:srgbClr val="FFFFFF"/>
          </a:solidFill>
          <a:ln w="12700">
            <a:solidFill>
              <a:srgbClr val="D0D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3229420" y="4480560"/>
            <a:ext cx="2724912" cy="274320"/>
          </a:xfrm>
          <a:prstGeom prst="rect">
            <a:avLst/>
          </a:prstGeom>
          <a:solidFill>
            <a:srgbClr val="E8ED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3229420" y="4480560"/>
            <a:ext cx="64008" cy="658368"/>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3366579" y="4535424"/>
            <a:ext cx="2523744" cy="253916"/>
          </a:xfrm>
          <a:prstGeom prst="rect">
            <a:avLst/>
          </a:prstGeom>
          <a:noFill/>
        </p:spPr>
        <p:txBody>
          <a:bodyPr wrap="square">
            <a:spAutoFit/>
          </a:bodyPr>
          <a:lstStyle/>
          <a:p>
            <a:pPr algn="l"/>
            <a:r>
              <a:rPr sz="1050" b="1">
                <a:solidFill>
                  <a:srgbClr val="1E2761"/>
                </a:solidFill>
                <a:latin typeface="Calibri"/>
              </a:rPr>
              <a:t>transcripts/</a:t>
            </a:r>
          </a:p>
        </p:txBody>
      </p:sp>
      <p:sp>
        <p:nvSpPr>
          <p:cNvPr id="75" name="TextBox 74"/>
          <p:cNvSpPr txBox="1"/>
          <p:nvPr/>
        </p:nvSpPr>
        <p:spPr>
          <a:xfrm>
            <a:off x="3366579" y="4828032"/>
            <a:ext cx="2523744" cy="237744"/>
          </a:xfrm>
          <a:prstGeom prst="rect">
            <a:avLst/>
          </a:prstGeom>
          <a:noFill/>
        </p:spPr>
        <p:txBody>
          <a:bodyPr wrap="square">
            <a:spAutoFit/>
          </a:bodyPr>
          <a:lstStyle/>
          <a:p>
            <a:pPr algn="l"/>
            <a:r>
              <a:rPr sz="900">
                <a:solidFill>
                  <a:srgbClr val="6A7A9A"/>
                </a:solidFill>
                <a:latin typeface="Calibri"/>
              </a:rPr>
              <a:t>Plain-text lecture TXT files</a:t>
            </a:r>
          </a:p>
        </p:txBody>
      </p:sp>
      <p:sp>
        <p:nvSpPr>
          <p:cNvPr id="76" name="Rectangle 75"/>
          <p:cNvSpPr/>
          <p:nvPr/>
        </p:nvSpPr>
        <p:spPr>
          <a:xfrm>
            <a:off x="6091492" y="4480560"/>
            <a:ext cx="2724912" cy="658368"/>
          </a:xfrm>
          <a:prstGeom prst="rect">
            <a:avLst/>
          </a:prstGeom>
          <a:solidFill>
            <a:srgbClr val="FFFFFF"/>
          </a:solidFill>
          <a:ln w="12700">
            <a:solidFill>
              <a:srgbClr val="D0D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6091492" y="4480560"/>
            <a:ext cx="2724912" cy="274320"/>
          </a:xfrm>
          <a:prstGeom prst="rect">
            <a:avLst/>
          </a:prstGeom>
          <a:solidFill>
            <a:srgbClr val="F0EB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6091492" y="4480560"/>
            <a:ext cx="64008" cy="658368"/>
          </a:xfrm>
          <a:prstGeom prst="rect">
            <a:avLst/>
          </a:prstGeom>
          <a:solidFill>
            <a:srgbClr val="7C5CB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6228652" y="4535424"/>
            <a:ext cx="2523744" cy="253916"/>
          </a:xfrm>
          <a:prstGeom prst="rect">
            <a:avLst/>
          </a:prstGeom>
          <a:noFill/>
        </p:spPr>
        <p:txBody>
          <a:bodyPr wrap="square">
            <a:spAutoFit/>
          </a:bodyPr>
          <a:lstStyle/>
          <a:p>
            <a:pPr algn="l"/>
            <a:r>
              <a:rPr sz="1050" b="1">
                <a:solidFill>
                  <a:srgbClr val="7C5CBF"/>
                </a:solidFill>
                <a:latin typeface="Calibri"/>
              </a:rPr>
              <a:t>faiss_index/</a:t>
            </a:r>
          </a:p>
        </p:txBody>
      </p:sp>
      <p:sp>
        <p:nvSpPr>
          <p:cNvPr id="80" name="TextBox 79"/>
          <p:cNvSpPr txBox="1"/>
          <p:nvPr/>
        </p:nvSpPr>
        <p:spPr>
          <a:xfrm>
            <a:off x="6228652" y="4828032"/>
            <a:ext cx="2523744" cy="237744"/>
          </a:xfrm>
          <a:prstGeom prst="rect">
            <a:avLst/>
          </a:prstGeom>
          <a:noFill/>
        </p:spPr>
        <p:txBody>
          <a:bodyPr wrap="square">
            <a:spAutoFit/>
          </a:bodyPr>
          <a:lstStyle/>
          <a:p>
            <a:pPr algn="l"/>
            <a:r>
              <a:rPr sz="900">
                <a:solidFill>
                  <a:srgbClr val="6A7A9A"/>
                </a:solidFill>
                <a:latin typeface="Calibri"/>
              </a:rPr>
              <a:t>Persisted FAISS index (write-once)</a:t>
            </a:r>
          </a:p>
        </p:txBody>
      </p:sp>
      <p:sp>
        <p:nvSpPr>
          <p:cNvPr id="81" name="Rectangle 80"/>
          <p:cNvSpPr/>
          <p:nvPr/>
        </p:nvSpPr>
        <p:spPr>
          <a:xfrm>
            <a:off x="8953564" y="4480560"/>
            <a:ext cx="2724912" cy="658368"/>
          </a:xfrm>
          <a:prstGeom prst="rect">
            <a:avLst/>
          </a:prstGeom>
          <a:solidFill>
            <a:srgbClr val="FFFFFF"/>
          </a:solidFill>
          <a:ln w="12700">
            <a:solidFill>
              <a:srgbClr val="D0D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Rectangle 81"/>
          <p:cNvSpPr/>
          <p:nvPr/>
        </p:nvSpPr>
        <p:spPr>
          <a:xfrm>
            <a:off x="8953564" y="4480560"/>
            <a:ext cx="2724912" cy="274320"/>
          </a:xfrm>
          <a:prstGeom prst="rect">
            <a:avLst/>
          </a:prstGeom>
          <a:solidFill>
            <a:srgbClr val="FDF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8953564" y="4480560"/>
            <a:ext cx="64008" cy="658368"/>
          </a:xfrm>
          <a:prstGeom prst="rect">
            <a:avLst/>
          </a:prstGeom>
          <a:solidFill>
            <a:srgbClr val="C06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p:cNvSpPr txBox="1"/>
          <p:nvPr/>
        </p:nvSpPr>
        <p:spPr>
          <a:xfrm>
            <a:off x="9090724" y="4535424"/>
            <a:ext cx="2523744" cy="253916"/>
          </a:xfrm>
          <a:prstGeom prst="rect">
            <a:avLst/>
          </a:prstGeom>
          <a:noFill/>
        </p:spPr>
        <p:txBody>
          <a:bodyPr wrap="square">
            <a:spAutoFit/>
          </a:bodyPr>
          <a:lstStyle/>
          <a:p>
            <a:pPr algn="l"/>
            <a:r>
              <a:rPr sz="1050" b="1">
                <a:solidFill>
                  <a:srgbClr val="C06010"/>
                </a:solidFill>
                <a:latin typeface="Calibri"/>
              </a:rPr>
              <a:t>enriched_chunks.json</a:t>
            </a:r>
          </a:p>
        </p:txBody>
      </p:sp>
      <p:sp>
        <p:nvSpPr>
          <p:cNvPr id="85" name="TextBox 84"/>
          <p:cNvSpPr txBox="1"/>
          <p:nvPr/>
        </p:nvSpPr>
        <p:spPr>
          <a:xfrm>
            <a:off x="9090724" y="4828032"/>
            <a:ext cx="2523744" cy="237744"/>
          </a:xfrm>
          <a:prstGeom prst="rect">
            <a:avLst/>
          </a:prstGeom>
          <a:noFill/>
        </p:spPr>
        <p:txBody>
          <a:bodyPr wrap="square">
            <a:spAutoFit/>
          </a:bodyPr>
          <a:lstStyle/>
          <a:p>
            <a:pPr algn="l"/>
            <a:r>
              <a:rPr sz="900">
                <a:solidFill>
                  <a:srgbClr val="6A7A9A"/>
                </a:solidFill>
                <a:latin typeface="Calibri"/>
              </a:rPr>
              <a:t>LLM-enriched chunk cache (write-once)</a:t>
            </a:r>
          </a:p>
        </p:txBody>
      </p:sp>
      <p:sp>
        <p:nvSpPr>
          <p:cNvPr id="86" name="Rectangle 85"/>
          <p:cNvSpPr/>
          <p:nvPr/>
        </p:nvSpPr>
        <p:spPr>
          <a:xfrm>
            <a:off x="367348" y="5285232"/>
            <a:ext cx="11457432" cy="438912"/>
          </a:xfrm>
          <a:prstGeom prst="rect">
            <a:avLst/>
          </a:prstGeom>
          <a:solidFill>
            <a:srgbClr val="FFFFFF"/>
          </a:solidFill>
          <a:ln w="12700">
            <a:solidFill>
              <a:srgbClr val="D0D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367348" y="5285232"/>
            <a:ext cx="64008" cy="438912"/>
          </a:xfrm>
          <a:prstGeom prst="rect">
            <a:avLst/>
          </a:prstGeom>
          <a:solidFill>
            <a:srgbClr val="9AA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p:cNvSpPr txBox="1"/>
          <p:nvPr/>
        </p:nvSpPr>
        <p:spPr>
          <a:xfrm>
            <a:off x="531940" y="5367529"/>
            <a:ext cx="10972800" cy="238527"/>
          </a:xfrm>
          <a:prstGeom prst="rect">
            <a:avLst/>
          </a:prstGeom>
          <a:noFill/>
        </p:spPr>
        <p:txBody>
          <a:bodyPr wrap="square">
            <a:spAutoFit/>
          </a:bodyPr>
          <a:lstStyle/>
          <a:p>
            <a:pPr algn="l"/>
            <a:r>
              <a:rPr sz="950" i="1">
                <a:solidFill>
                  <a:srgbClr val="7A8AAA"/>
                </a:solidFill>
                <a:latin typeface="Calibri"/>
              </a:rPr>
              <a:t>Git-ignored at runtime:    pipeline.log     memory/chat_history.db     faiss_index/     enriched_chunks.json     .env</a:t>
            </a:r>
          </a:p>
        </p:txBody>
      </p:sp>
      <p:sp>
        <p:nvSpPr>
          <p:cNvPr id="89" name="Rectangle 88"/>
          <p:cNvSpPr/>
          <p:nvPr/>
        </p:nvSpPr>
        <p:spPr>
          <a:xfrm>
            <a:off x="1588" y="6601968"/>
            <a:ext cx="12188952" cy="256032"/>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TextBox 89"/>
          <p:cNvSpPr txBox="1"/>
          <p:nvPr/>
        </p:nvSpPr>
        <p:spPr>
          <a:xfrm>
            <a:off x="458788" y="6629400"/>
            <a:ext cx="10972800" cy="215444"/>
          </a:xfrm>
          <a:prstGeom prst="rect">
            <a:avLst/>
          </a:prstGeom>
          <a:noFill/>
        </p:spPr>
        <p:txBody>
          <a:bodyPr wrap="square">
            <a:spAutoFit/>
          </a:bodyPr>
          <a:lstStyle/>
          <a:p>
            <a:pPr algn="l"/>
            <a:r>
              <a:rPr sz="800">
                <a:solidFill>
                  <a:srgbClr val="8AAEF8"/>
                </a:solidFill>
                <a:latin typeface="Calibri"/>
              </a:rPr>
              <a:t>RAG Pipeline for AI/ML Knowledge  .  POC</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88"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1588" y="0"/>
            <a:ext cx="12188952" cy="1005840"/>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8788" y="164593"/>
            <a:ext cx="3657600" cy="246221"/>
          </a:xfrm>
          <a:prstGeom prst="rect">
            <a:avLst/>
          </a:prstGeom>
          <a:noFill/>
        </p:spPr>
        <p:txBody>
          <a:bodyPr wrap="square">
            <a:spAutoFit/>
          </a:bodyPr>
          <a:lstStyle/>
          <a:p>
            <a:pPr algn="l"/>
            <a:r>
              <a:rPr sz="1000" b="1">
                <a:solidFill>
                  <a:srgbClr val="8AAEF8"/>
                </a:solidFill>
                <a:latin typeface="Calibri"/>
              </a:rPr>
              <a:t>TRADEOFFS &amp; FAILURE MODES</a:t>
            </a:r>
          </a:p>
        </p:txBody>
      </p:sp>
      <p:sp>
        <p:nvSpPr>
          <p:cNvPr id="5" name="TextBox 4"/>
          <p:cNvSpPr txBox="1"/>
          <p:nvPr/>
        </p:nvSpPr>
        <p:spPr>
          <a:xfrm>
            <a:off x="458788" y="475488"/>
            <a:ext cx="8229600" cy="400110"/>
          </a:xfrm>
          <a:prstGeom prst="rect">
            <a:avLst/>
          </a:prstGeom>
          <a:noFill/>
        </p:spPr>
        <p:txBody>
          <a:bodyPr wrap="square">
            <a:spAutoFit/>
          </a:bodyPr>
          <a:lstStyle/>
          <a:p>
            <a:pPr algn="l"/>
            <a:r>
              <a:rPr sz="2000" b="1">
                <a:solidFill>
                  <a:srgbClr val="FFFFFF"/>
                </a:solidFill>
                <a:latin typeface="Calibri"/>
              </a:rPr>
              <a:t>Key decisions made and how the system behaves when things go wrong</a:t>
            </a:r>
          </a:p>
        </p:txBody>
      </p:sp>
      <p:sp>
        <p:nvSpPr>
          <p:cNvPr id="6" name="Rectangle 5"/>
          <p:cNvSpPr/>
          <p:nvPr/>
        </p:nvSpPr>
        <p:spPr>
          <a:xfrm>
            <a:off x="367348" y="1115568"/>
            <a:ext cx="5577840" cy="347472"/>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4508" y="1161288"/>
            <a:ext cx="5303520" cy="253916"/>
          </a:xfrm>
          <a:prstGeom prst="rect">
            <a:avLst/>
          </a:prstGeom>
          <a:noFill/>
        </p:spPr>
        <p:txBody>
          <a:bodyPr wrap="square">
            <a:spAutoFit/>
          </a:bodyPr>
          <a:lstStyle/>
          <a:p>
            <a:pPr algn="l"/>
            <a:r>
              <a:rPr sz="1050" b="1">
                <a:solidFill>
                  <a:srgbClr val="FFFFFF"/>
                </a:solidFill>
                <a:latin typeface="Calibri"/>
              </a:rPr>
              <a:t>TRADEOFFS  —  What we chose and why</a:t>
            </a:r>
          </a:p>
        </p:txBody>
      </p:sp>
      <p:sp>
        <p:nvSpPr>
          <p:cNvPr id="8" name="Rectangle 7"/>
          <p:cNvSpPr/>
          <p:nvPr/>
        </p:nvSpPr>
        <p:spPr>
          <a:xfrm>
            <a:off x="6246940" y="1115568"/>
            <a:ext cx="5577840" cy="347472"/>
          </a:xfrm>
          <a:prstGeom prst="rect">
            <a:avLst/>
          </a:prstGeom>
          <a:solidFill>
            <a:srgbClr val="B0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84100" y="1161288"/>
            <a:ext cx="5303520" cy="253916"/>
          </a:xfrm>
          <a:prstGeom prst="rect">
            <a:avLst/>
          </a:prstGeom>
          <a:noFill/>
        </p:spPr>
        <p:txBody>
          <a:bodyPr wrap="square">
            <a:spAutoFit/>
          </a:bodyPr>
          <a:lstStyle/>
          <a:p>
            <a:pPr algn="l"/>
            <a:r>
              <a:rPr sz="1050" b="1">
                <a:solidFill>
                  <a:srgbClr val="FFFFFF"/>
                </a:solidFill>
                <a:latin typeface="Calibri"/>
              </a:rPr>
              <a:t>FAILURE MODES  —  What breaks and the fix</a:t>
            </a:r>
          </a:p>
        </p:txBody>
      </p:sp>
      <p:sp>
        <p:nvSpPr>
          <p:cNvPr id="10" name="Rectangle 9"/>
          <p:cNvSpPr/>
          <p:nvPr/>
        </p:nvSpPr>
        <p:spPr>
          <a:xfrm>
            <a:off x="367348" y="1572768"/>
            <a:ext cx="5577840" cy="1536192"/>
          </a:xfrm>
          <a:prstGeom prst="rect">
            <a:avLst/>
          </a:prstGeom>
          <a:solidFill>
            <a:srgbClr val="FFFFFF"/>
          </a:solidFill>
          <a:ln w="12700">
            <a:solidFill>
              <a:srgbClr val="D0D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67348" y="1572768"/>
            <a:ext cx="64008" cy="1536192"/>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31940" y="1664208"/>
            <a:ext cx="457200" cy="338554"/>
          </a:xfrm>
          <a:prstGeom prst="rect">
            <a:avLst/>
          </a:prstGeom>
          <a:noFill/>
        </p:spPr>
        <p:txBody>
          <a:bodyPr wrap="square">
            <a:spAutoFit/>
          </a:bodyPr>
          <a:lstStyle/>
          <a:p>
            <a:pPr algn="l"/>
            <a:r>
              <a:rPr sz="1600" b="1">
                <a:solidFill>
                  <a:srgbClr val="1E2761"/>
                </a:solidFill>
                <a:latin typeface="Calibri"/>
              </a:rPr>
              <a:t>01</a:t>
            </a:r>
          </a:p>
        </p:txBody>
      </p:sp>
      <p:sp>
        <p:nvSpPr>
          <p:cNvPr id="13" name="TextBox 12"/>
          <p:cNvSpPr txBox="1"/>
          <p:nvPr/>
        </p:nvSpPr>
        <p:spPr>
          <a:xfrm>
            <a:off x="961708" y="1682496"/>
            <a:ext cx="4754880" cy="284693"/>
          </a:xfrm>
          <a:prstGeom prst="rect">
            <a:avLst/>
          </a:prstGeom>
          <a:noFill/>
        </p:spPr>
        <p:txBody>
          <a:bodyPr wrap="square">
            <a:spAutoFit/>
          </a:bodyPr>
          <a:lstStyle/>
          <a:p>
            <a:pPr algn="l"/>
            <a:r>
              <a:rPr sz="1250" b="1">
                <a:solidFill>
                  <a:srgbClr val="1A1A2E"/>
                </a:solidFill>
                <a:latin typeface="Calibri"/>
              </a:rPr>
              <a:t>FAISS vs Production Vector Databases</a:t>
            </a:r>
          </a:p>
        </p:txBody>
      </p:sp>
      <p:sp>
        <p:nvSpPr>
          <p:cNvPr id="14" name="TextBox 13"/>
          <p:cNvSpPr txBox="1"/>
          <p:nvPr/>
        </p:nvSpPr>
        <p:spPr>
          <a:xfrm>
            <a:off x="531940" y="2048256"/>
            <a:ext cx="640080" cy="228600"/>
          </a:xfrm>
          <a:prstGeom prst="rect">
            <a:avLst/>
          </a:prstGeom>
          <a:noFill/>
        </p:spPr>
        <p:txBody>
          <a:bodyPr wrap="square">
            <a:spAutoFit/>
          </a:bodyPr>
          <a:lstStyle/>
          <a:p>
            <a:pPr algn="l"/>
            <a:r>
              <a:rPr sz="900" b="1">
                <a:solidFill>
                  <a:srgbClr val="5A6A9A"/>
                </a:solidFill>
                <a:latin typeface="Calibri"/>
              </a:rPr>
              <a:t>POC:</a:t>
            </a:r>
          </a:p>
        </p:txBody>
      </p:sp>
      <p:sp>
        <p:nvSpPr>
          <p:cNvPr id="15" name="TextBox 14"/>
          <p:cNvSpPr txBox="1"/>
          <p:nvPr/>
        </p:nvSpPr>
        <p:spPr>
          <a:xfrm>
            <a:off x="1117156" y="2048257"/>
            <a:ext cx="4663440" cy="238527"/>
          </a:xfrm>
          <a:prstGeom prst="rect">
            <a:avLst/>
          </a:prstGeom>
          <a:noFill/>
        </p:spPr>
        <p:txBody>
          <a:bodyPr wrap="square">
            <a:spAutoFit/>
          </a:bodyPr>
          <a:lstStyle/>
          <a:p>
            <a:pPr algn="l"/>
            <a:r>
              <a:rPr sz="950">
                <a:solidFill>
                  <a:srgbClr val="333355"/>
                </a:solidFill>
                <a:latin typeface="Calibri"/>
              </a:rPr>
              <a:t>FAISS — file-based, zero server dependency, easy local setup.</a:t>
            </a:r>
          </a:p>
        </p:txBody>
      </p:sp>
      <p:sp>
        <p:nvSpPr>
          <p:cNvPr id="16" name="TextBox 15"/>
          <p:cNvSpPr txBox="1"/>
          <p:nvPr/>
        </p:nvSpPr>
        <p:spPr>
          <a:xfrm>
            <a:off x="531940" y="2350008"/>
            <a:ext cx="822960" cy="228600"/>
          </a:xfrm>
          <a:prstGeom prst="rect">
            <a:avLst/>
          </a:prstGeom>
          <a:noFill/>
        </p:spPr>
        <p:txBody>
          <a:bodyPr wrap="square">
            <a:spAutoFit/>
          </a:bodyPr>
          <a:lstStyle/>
          <a:p>
            <a:pPr algn="l"/>
            <a:r>
              <a:rPr sz="900" b="1">
                <a:solidFill>
                  <a:srgbClr val="1E7A4E"/>
                </a:solidFill>
                <a:latin typeface="Calibri"/>
              </a:rPr>
              <a:t>Prod:</a:t>
            </a:r>
          </a:p>
        </p:txBody>
      </p:sp>
      <p:sp>
        <p:nvSpPr>
          <p:cNvPr id="17" name="TextBox 16"/>
          <p:cNvSpPr txBox="1"/>
          <p:nvPr/>
        </p:nvSpPr>
        <p:spPr>
          <a:xfrm>
            <a:off x="1391476" y="2350009"/>
            <a:ext cx="4389120" cy="384721"/>
          </a:xfrm>
          <a:prstGeom prst="rect">
            <a:avLst/>
          </a:prstGeom>
          <a:noFill/>
        </p:spPr>
        <p:txBody>
          <a:bodyPr wrap="square">
            <a:spAutoFit/>
          </a:bodyPr>
          <a:lstStyle/>
          <a:p>
            <a:pPr algn="l"/>
            <a:r>
              <a:rPr sz="950">
                <a:solidFill>
                  <a:srgbClr val="1E4A2E"/>
                </a:solidFill>
                <a:latin typeface="Calibri"/>
              </a:rPr>
              <a:t>Azure AI Search, OpenSearch, Chroma, or Pinecone for metadata filtering, managed infra, and horizontal scalability.</a:t>
            </a:r>
          </a:p>
        </p:txBody>
      </p:sp>
      <p:sp>
        <p:nvSpPr>
          <p:cNvPr id="18" name="Rectangle 17"/>
          <p:cNvSpPr/>
          <p:nvPr/>
        </p:nvSpPr>
        <p:spPr>
          <a:xfrm>
            <a:off x="367348" y="3218688"/>
            <a:ext cx="5577840" cy="1536192"/>
          </a:xfrm>
          <a:prstGeom prst="rect">
            <a:avLst/>
          </a:prstGeom>
          <a:solidFill>
            <a:srgbClr val="FFFFFF"/>
          </a:solidFill>
          <a:ln w="12700">
            <a:solidFill>
              <a:srgbClr val="D0D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7348" y="3218688"/>
            <a:ext cx="64008" cy="1536192"/>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31940" y="3310128"/>
            <a:ext cx="457200" cy="338554"/>
          </a:xfrm>
          <a:prstGeom prst="rect">
            <a:avLst/>
          </a:prstGeom>
          <a:noFill/>
        </p:spPr>
        <p:txBody>
          <a:bodyPr wrap="square">
            <a:spAutoFit/>
          </a:bodyPr>
          <a:lstStyle/>
          <a:p>
            <a:pPr algn="l"/>
            <a:r>
              <a:rPr sz="1600" b="1">
                <a:solidFill>
                  <a:srgbClr val="1E2761"/>
                </a:solidFill>
                <a:latin typeface="Calibri"/>
              </a:rPr>
              <a:t>02</a:t>
            </a:r>
          </a:p>
        </p:txBody>
      </p:sp>
      <p:sp>
        <p:nvSpPr>
          <p:cNvPr id="21" name="TextBox 20"/>
          <p:cNvSpPr txBox="1"/>
          <p:nvPr/>
        </p:nvSpPr>
        <p:spPr>
          <a:xfrm>
            <a:off x="961708" y="3328417"/>
            <a:ext cx="4754880" cy="284693"/>
          </a:xfrm>
          <a:prstGeom prst="rect">
            <a:avLst/>
          </a:prstGeom>
          <a:noFill/>
        </p:spPr>
        <p:txBody>
          <a:bodyPr wrap="square">
            <a:spAutoFit/>
          </a:bodyPr>
          <a:lstStyle/>
          <a:p>
            <a:pPr algn="l"/>
            <a:r>
              <a:rPr sz="1250" b="1">
                <a:solidFill>
                  <a:srgbClr val="1A1A2E"/>
                </a:solidFill>
                <a:latin typeface="Calibri"/>
              </a:rPr>
              <a:t>LLM Enrichment vs NLP-based Extraction</a:t>
            </a:r>
          </a:p>
        </p:txBody>
      </p:sp>
      <p:sp>
        <p:nvSpPr>
          <p:cNvPr id="22" name="TextBox 21"/>
          <p:cNvSpPr txBox="1"/>
          <p:nvPr/>
        </p:nvSpPr>
        <p:spPr>
          <a:xfrm>
            <a:off x="531940" y="3694176"/>
            <a:ext cx="640080" cy="228600"/>
          </a:xfrm>
          <a:prstGeom prst="rect">
            <a:avLst/>
          </a:prstGeom>
          <a:noFill/>
        </p:spPr>
        <p:txBody>
          <a:bodyPr wrap="square">
            <a:spAutoFit/>
          </a:bodyPr>
          <a:lstStyle/>
          <a:p>
            <a:pPr algn="l"/>
            <a:r>
              <a:rPr sz="900" b="1">
                <a:solidFill>
                  <a:srgbClr val="5A6A9A"/>
                </a:solidFill>
                <a:latin typeface="Calibri"/>
              </a:rPr>
              <a:t>POC:</a:t>
            </a:r>
          </a:p>
        </p:txBody>
      </p:sp>
      <p:sp>
        <p:nvSpPr>
          <p:cNvPr id="23" name="TextBox 22"/>
          <p:cNvSpPr txBox="1"/>
          <p:nvPr/>
        </p:nvSpPr>
        <p:spPr>
          <a:xfrm>
            <a:off x="1117156" y="3694177"/>
            <a:ext cx="4663440" cy="238527"/>
          </a:xfrm>
          <a:prstGeom prst="rect">
            <a:avLst/>
          </a:prstGeom>
          <a:noFill/>
        </p:spPr>
        <p:txBody>
          <a:bodyPr wrap="square">
            <a:spAutoFit/>
          </a:bodyPr>
          <a:lstStyle/>
          <a:p>
            <a:pPr algn="l"/>
            <a:r>
              <a:rPr sz="950">
                <a:solidFill>
                  <a:srgbClr val="333355"/>
                </a:solidFill>
                <a:latin typeface="Calibri"/>
              </a:rPr>
              <a:t>OpenAI LLM for rich semantic labels: difficulty, content type, concepts.</a:t>
            </a:r>
          </a:p>
        </p:txBody>
      </p:sp>
      <p:sp>
        <p:nvSpPr>
          <p:cNvPr id="24" name="TextBox 23"/>
          <p:cNvSpPr txBox="1"/>
          <p:nvPr/>
        </p:nvSpPr>
        <p:spPr>
          <a:xfrm>
            <a:off x="531940" y="3995928"/>
            <a:ext cx="822960" cy="228600"/>
          </a:xfrm>
          <a:prstGeom prst="rect">
            <a:avLst/>
          </a:prstGeom>
          <a:noFill/>
        </p:spPr>
        <p:txBody>
          <a:bodyPr wrap="square">
            <a:spAutoFit/>
          </a:bodyPr>
          <a:lstStyle/>
          <a:p>
            <a:pPr algn="l"/>
            <a:r>
              <a:rPr sz="900" b="1">
                <a:solidFill>
                  <a:srgbClr val="1E7A4E"/>
                </a:solidFill>
                <a:latin typeface="Calibri"/>
              </a:rPr>
              <a:t>Prod:</a:t>
            </a:r>
          </a:p>
        </p:txBody>
      </p:sp>
      <p:sp>
        <p:nvSpPr>
          <p:cNvPr id="25" name="TextBox 24"/>
          <p:cNvSpPr txBox="1"/>
          <p:nvPr/>
        </p:nvSpPr>
        <p:spPr>
          <a:xfrm>
            <a:off x="1391476" y="3995929"/>
            <a:ext cx="4389120" cy="384721"/>
          </a:xfrm>
          <a:prstGeom prst="rect">
            <a:avLst/>
          </a:prstGeom>
          <a:noFill/>
        </p:spPr>
        <p:txBody>
          <a:bodyPr wrap="square">
            <a:spAutoFit/>
          </a:bodyPr>
          <a:lstStyle/>
          <a:p>
            <a:pPr algn="l"/>
            <a:r>
              <a:rPr sz="950">
                <a:solidFill>
                  <a:srgbClr val="1E4A2E"/>
                </a:solidFill>
                <a:latin typeface="Calibri"/>
              </a:rPr>
              <a:t>NLP (KeyBERT / spaCy) is free and faster but labels are shallower. Cost and rate limits must be budgeted upfront.</a:t>
            </a:r>
          </a:p>
        </p:txBody>
      </p:sp>
      <p:sp>
        <p:nvSpPr>
          <p:cNvPr id="26" name="Rectangle 25"/>
          <p:cNvSpPr/>
          <p:nvPr/>
        </p:nvSpPr>
        <p:spPr>
          <a:xfrm>
            <a:off x="367348" y="4864608"/>
            <a:ext cx="5577840" cy="1536192"/>
          </a:xfrm>
          <a:prstGeom prst="rect">
            <a:avLst/>
          </a:prstGeom>
          <a:solidFill>
            <a:srgbClr val="FFFFFF"/>
          </a:solidFill>
          <a:ln w="12700">
            <a:solidFill>
              <a:srgbClr val="D0D8E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367348" y="4864608"/>
            <a:ext cx="64008" cy="1536192"/>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31940" y="4956048"/>
            <a:ext cx="457200" cy="338554"/>
          </a:xfrm>
          <a:prstGeom prst="rect">
            <a:avLst/>
          </a:prstGeom>
          <a:noFill/>
        </p:spPr>
        <p:txBody>
          <a:bodyPr wrap="square">
            <a:spAutoFit/>
          </a:bodyPr>
          <a:lstStyle/>
          <a:p>
            <a:pPr algn="l"/>
            <a:r>
              <a:rPr sz="1600" b="1">
                <a:solidFill>
                  <a:srgbClr val="1E2761"/>
                </a:solidFill>
                <a:latin typeface="Calibri"/>
              </a:rPr>
              <a:t>03</a:t>
            </a:r>
          </a:p>
        </p:txBody>
      </p:sp>
      <p:sp>
        <p:nvSpPr>
          <p:cNvPr id="29" name="TextBox 28"/>
          <p:cNvSpPr txBox="1"/>
          <p:nvPr/>
        </p:nvSpPr>
        <p:spPr>
          <a:xfrm>
            <a:off x="961708" y="4974337"/>
            <a:ext cx="4754880" cy="284693"/>
          </a:xfrm>
          <a:prstGeom prst="rect">
            <a:avLst/>
          </a:prstGeom>
          <a:noFill/>
        </p:spPr>
        <p:txBody>
          <a:bodyPr wrap="square">
            <a:spAutoFit/>
          </a:bodyPr>
          <a:lstStyle/>
          <a:p>
            <a:pPr algn="l"/>
            <a:r>
              <a:rPr sz="1250" b="1">
                <a:solidFill>
                  <a:srgbClr val="1A1A2E"/>
                </a:solidFill>
                <a:latin typeface="Calibri"/>
              </a:rPr>
              <a:t>Standard RAG vs Agentic RAG</a:t>
            </a:r>
          </a:p>
        </p:txBody>
      </p:sp>
      <p:sp>
        <p:nvSpPr>
          <p:cNvPr id="30" name="TextBox 29"/>
          <p:cNvSpPr txBox="1"/>
          <p:nvPr/>
        </p:nvSpPr>
        <p:spPr>
          <a:xfrm>
            <a:off x="531940" y="5340096"/>
            <a:ext cx="640080" cy="228600"/>
          </a:xfrm>
          <a:prstGeom prst="rect">
            <a:avLst/>
          </a:prstGeom>
          <a:noFill/>
        </p:spPr>
        <p:txBody>
          <a:bodyPr wrap="square">
            <a:spAutoFit/>
          </a:bodyPr>
          <a:lstStyle/>
          <a:p>
            <a:pPr algn="l"/>
            <a:r>
              <a:rPr sz="900" b="1">
                <a:solidFill>
                  <a:srgbClr val="5A6A9A"/>
                </a:solidFill>
                <a:latin typeface="Calibri"/>
              </a:rPr>
              <a:t>POC:</a:t>
            </a:r>
          </a:p>
        </p:txBody>
      </p:sp>
      <p:sp>
        <p:nvSpPr>
          <p:cNvPr id="31" name="TextBox 30"/>
          <p:cNvSpPr txBox="1"/>
          <p:nvPr/>
        </p:nvSpPr>
        <p:spPr>
          <a:xfrm>
            <a:off x="1117156" y="5340097"/>
            <a:ext cx="4663440" cy="238527"/>
          </a:xfrm>
          <a:prstGeom prst="rect">
            <a:avLst/>
          </a:prstGeom>
          <a:noFill/>
        </p:spPr>
        <p:txBody>
          <a:bodyPr wrap="square">
            <a:spAutoFit/>
          </a:bodyPr>
          <a:lstStyle/>
          <a:p>
            <a:pPr algn="l"/>
            <a:r>
              <a:rPr sz="950">
                <a:solidFill>
                  <a:srgbClr val="333355"/>
                </a:solidFill>
                <a:latin typeface="Calibri"/>
              </a:rPr>
              <a:t>Single retrieval route over the knowledge base.</a:t>
            </a:r>
          </a:p>
        </p:txBody>
      </p:sp>
      <p:sp>
        <p:nvSpPr>
          <p:cNvPr id="32" name="TextBox 31"/>
          <p:cNvSpPr txBox="1"/>
          <p:nvPr/>
        </p:nvSpPr>
        <p:spPr>
          <a:xfrm>
            <a:off x="531940" y="5641848"/>
            <a:ext cx="822960" cy="228600"/>
          </a:xfrm>
          <a:prstGeom prst="rect">
            <a:avLst/>
          </a:prstGeom>
          <a:noFill/>
        </p:spPr>
        <p:txBody>
          <a:bodyPr wrap="square">
            <a:spAutoFit/>
          </a:bodyPr>
          <a:lstStyle/>
          <a:p>
            <a:pPr algn="l"/>
            <a:r>
              <a:rPr sz="900" b="1">
                <a:solidFill>
                  <a:srgbClr val="1E7A4E"/>
                </a:solidFill>
                <a:latin typeface="Calibri"/>
              </a:rPr>
              <a:t>Prod:</a:t>
            </a:r>
          </a:p>
        </p:txBody>
      </p:sp>
      <p:sp>
        <p:nvSpPr>
          <p:cNvPr id="33" name="TextBox 32"/>
          <p:cNvSpPr txBox="1"/>
          <p:nvPr/>
        </p:nvSpPr>
        <p:spPr>
          <a:xfrm>
            <a:off x="1391476" y="5641849"/>
            <a:ext cx="4389120" cy="384721"/>
          </a:xfrm>
          <a:prstGeom prst="rect">
            <a:avLst/>
          </a:prstGeom>
          <a:noFill/>
        </p:spPr>
        <p:txBody>
          <a:bodyPr wrap="square">
            <a:spAutoFit/>
          </a:bodyPr>
          <a:lstStyle/>
          <a:p>
            <a:pPr algn="l"/>
            <a:r>
              <a:rPr sz="950">
                <a:solidFill>
                  <a:srgbClr val="1E4A2E"/>
                </a:solidFill>
                <a:latin typeface="Calibri"/>
              </a:rPr>
              <a:t>Agentic RAG: fall back to internet search if KB has no answer. Separate route for general queries that skip retrieval.</a:t>
            </a:r>
          </a:p>
        </p:txBody>
      </p:sp>
      <p:sp>
        <p:nvSpPr>
          <p:cNvPr id="34" name="Rectangle 33"/>
          <p:cNvSpPr/>
          <p:nvPr/>
        </p:nvSpPr>
        <p:spPr>
          <a:xfrm>
            <a:off x="6246940" y="1572768"/>
            <a:ext cx="5577840" cy="2212848"/>
          </a:xfrm>
          <a:prstGeom prst="rect">
            <a:avLst/>
          </a:prstGeom>
          <a:solidFill>
            <a:srgbClr val="FFFFFF"/>
          </a:solidFill>
          <a:ln w="12700">
            <a:solidFill>
              <a:srgbClr val="F0CC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246940" y="1572768"/>
            <a:ext cx="64008" cy="2212848"/>
          </a:xfrm>
          <a:prstGeom prst="rect">
            <a:avLst/>
          </a:prstGeom>
          <a:solidFill>
            <a:srgbClr val="B0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420676" y="1682495"/>
            <a:ext cx="457200" cy="338554"/>
          </a:xfrm>
          <a:prstGeom prst="rect">
            <a:avLst/>
          </a:prstGeom>
          <a:noFill/>
        </p:spPr>
        <p:txBody>
          <a:bodyPr wrap="square">
            <a:spAutoFit/>
          </a:bodyPr>
          <a:lstStyle/>
          <a:p>
            <a:pPr algn="l"/>
            <a:r>
              <a:rPr sz="1600" b="1">
                <a:solidFill>
                  <a:srgbClr val="B03A2E"/>
                </a:solidFill>
                <a:latin typeface="Calibri"/>
              </a:rPr>
              <a:t>01</a:t>
            </a:r>
          </a:p>
        </p:txBody>
      </p:sp>
      <p:sp>
        <p:nvSpPr>
          <p:cNvPr id="37" name="TextBox 36"/>
          <p:cNvSpPr txBox="1"/>
          <p:nvPr/>
        </p:nvSpPr>
        <p:spPr>
          <a:xfrm>
            <a:off x="6877876" y="1700785"/>
            <a:ext cx="4754880" cy="284693"/>
          </a:xfrm>
          <a:prstGeom prst="rect">
            <a:avLst/>
          </a:prstGeom>
          <a:noFill/>
        </p:spPr>
        <p:txBody>
          <a:bodyPr wrap="square">
            <a:spAutoFit/>
          </a:bodyPr>
          <a:lstStyle/>
          <a:p>
            <a:pPr algn="l"/>
            <a:r>
              <a:rPr sz="1250" b="1">
                <a:solidFill>
                  <a:srgbClr val="1A1A2E"/>
                </a:solidFill>
                <a:latin typeface="Calibri"/>
              </a:rPr>
              <a:t>Vectorstore Not Loaded</a:t>
            </a:r>
          </a:p>
        </p:txBody>
      </p:sp>
      <p:sp>
        <p:nvSpPr>
          <p:cNvPr id="38" name="TextBox 37"/>
          <p:cNvSpPr txBox="1"/>
          <p:nvPr/>
        </p:nvSpPr>
        <p:spPr>
          <a:xfrm>
            <a:off x="6420676" y="2075688"/>
            <a:ext cx="1051560" cy="228600"/>
          </a:xfrm>
          <a:prstGeom prst="rect">
            <a:avLst/>
          </a:prstGeom>
          <a:noFill/>
        </p:spPr>
        <p:txBody>
          <a:bodyPr wrap="square">
            <a:spAutoFit/>
          </a:bodyPr>
          <a:lstStyle/>
          <a:p>
            <a:pPr algn="l"/>
            <a:r>
              <a:rPr sz="900" b="1">
                <a:solidFill>
                  <a:srgbClr val="B03A2E"/>
                </a:solidFill>
                <a:latin typeface="Calibri"/>
              </a:rPr>
              <a:t>Breaks:</a:t>
            </a:r>
          </a:p>
        </p:txBody>
      </p:sp>
      <p:sp>
        <p:nvSpPr>
          <p:cNvPr id="39" name="TextBox 38"/>
          <p:cNvSpPr txBox="1"/>
          <p:nvPr/>
        </p:nvSpPr>
        <p:spPr>
          <a:xfrm>
            <a:off x="7481380" y="2075689"/>
            <a:ext cx="4160520" cy="384721"/>
          </a:xfrm>
          <a:prstGeom prst="rect">
            <a:avLst/>
          </a:prstGeom>
          <a:noFill/>
        </p:spPr>
        <p:txBody>
          <a:bodyPr wrap="square">
            <a:spAutoFit/>
          </a:bodyPr>
          <a:lstStyle/>
          <a:p>
            <a:pPr algn="l"/>
            <a:r>
              <a:rPr sz="950">
                <a:solidFill>
                  <a:srgbClr val="5A2020"/>
                </a:solidFill>
                <a:latin typeface="Calibri"/>
              </a:rPr>
              <a:t>Querying before ingestion completes — API returns 503, frontend shows no results.</a:t>
            </a:r>
          </a:p>
        </p:txBody>
      </p:sp>
      <p:sp>
        <p:nvSpPr>
          <p:cNvPr id="40" name="TextBox 39"/>
          <p:cNvSpPr txBox="1"/>
          <p:nvPr/>
        </p:nvSpPr>
        <p:spPr>
          <a:xfrm>
            <a:off x="6420676" y="2578608"/>
            <a:ext cx="731520" cy="228600"/>
          </a:xfrm>
          <a:prstGeom prst="rect">
            <a:avLst/>
          </a:prstGeom>
          <a:noFill/>
        </p:spPr>
        <p:txBody>
          <a:bodyPr wrap="square">
            <a:spAutoFit/>
          </a:bodyPr>
          <a:lstStyle/>
          <a:p>
            <a:pPr algn="l"/>
            <a:r>
              <a:rPr sz="900" b="1">
                <a:solidFill>
                  <a:srgbClr val="1E7A4E"/>
                </a:solidFill>
                <a:latin typeface="Calibri"/>
              </a:rPr>
              <a:t>Fix:</a:t>
            </a:r>
          </a:p>
        </p:txBody>
      </p:sp>
      <p:sp>
        <p:nvSpPr>
          <p:cNvPr id="41" name="TextBox 40"/>
          <p:cNvSpPr txBox="1"/>
          <p:nvPr/>
        </p:nvSpPr>
        <p:spPr>
          <a:xfrm>
            <a:off x="7152196" y="2578609"/>
            <a:ext cx="4480560" cy="384721"/>
          </a:xfrm>
          <a:prstGeom prst="rect">
            <a:avLst/>
          </a:prstGeom>
          <a:noFill/>
        </p:spPr>
        <p:txBody>
          <a:bodyPr wrap="square">
            <a:spAutoFit/>
          </a:bodyPr>
          <a:lstStyle/>
          <a:p>
            <a:pPr algn="l"/>
            <a:r>
              <a:rPr sz="950">
                <a:solidFill>
                  <a:srgbClr val="1E4A2E"/>
                </a:solidFill>
                <a:latin typeface="Calibri"/>
              </a:rPr>
              <a:t>Frontend displays the exact CLI command to run. Lifespan treats missing index as a soft warning so the server still starts and session endpoints remain available.</a:t>
            </a:r>
          </a:p>
        </p:txBody>
      </p:sp>
      <p:sp>
        <p:nvSpPr>
          <p:cNvPr id="42" name="Rectangle 41"/>
          <p:cNvSpPr/>
          <p:nvPr/>
        </p:nvSpPr>
        <p:spPr>
          <a:xfrm>
            <a:off x="6246940" y="3950208"/>
            <a:ext cx="5577840" cy="2212848"/>
          </a:xfrm>
          <a:prstGeom prst="rect">
            <a:avLst/>
          </a:prstGeom>
          <a:solidFill>
            <a:srgbClr val="FFFFFF"/>
          </a:solidFill>
          <a:ln w="12700">
            <a:solidFill>
              <a:srgbClr val="F0CCC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p:cNvSpPr/>
          <p:nvPr/>
        </p:nvSpPr>
        <p:spPr>
          <a:xfrm>
            <a:off x="6246940" y="3950208"/>
            <a:ext cx="64008" cy="2212848"/>
          </a:xfrm>
          <a:prstGeom prst="rect">
            <a:avLst/>
          </a:prstGeom>
          <a:solidFill>
            <a:srgbClr val="B03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420676" y="4059936"/>
            <a:ext cx="457200" cy="338554"/>
          </a:xfrm>
          <a:prstGeom prst="rect">
            <a:avLst/>
          </a:prstGeom>
          <a:noFill/>
        </p:spPr>
        <p:txBody>
          <a:bodyPr wrap="square">
            <a:spAutoFit/>
          </a:bodyPr>
          <a:lstStyle/>
          <a:p>
            <a:pPr algn="l"/>
            <a:r>
              <a:rPr sz="1600" b="1">
                <a:solidFill>
                  <a:srgbClr val="B03A2E"/>
                </a:solidFill>
                <a:latin typeface="Calibri"/>
              </a:rPr>
              <a:t>02</a:t>
            </a:r>
          </a:p>
        </p:txBody>
      </p:sp>
      <p:sp>
        <p:nvSpPr>
          <p:cNvPr id="45" name="TextBox 44"/>
          <p:cNvSpPr txBox="1"/>
          <p:nvPr/>
        </p:nvSpPr>
        <p:spPr>
          <a:xfrm>
            <a:off x="6877876" y="4078225"/>
            <a:ext cx="4754880" cy="284693"/>
          </a:xfrm>
          <a:prstGeom prst="rect">
            <a:avLst/>
          </a:prstGeom>
          <a:noFill/>
        </p:spPr>
        <p:txBody>
          <a:bodyPr wrap="square">
            <a:spAutoFit/>
          </a:bodyPr>
          <a:lstStyle/>
          <a:p>
            <a:pPr algn="l"/>
            <a:r>
              <a:rPr sz="1250" b="1">
                <a:solidFill>
                  <a:srgbClr val="1A1A2E"/>
                </a:solidFill>
                <a:latin typeface="Calibri"/>
              </a:rPr>
              <a:t>Context Mismatch — Answer Not in Sources</a:t>
            </a:r>
          </a:p>
        </p:txBody>
      </p:sp>
      <p:sp>
        <p:nvSpPr>
          <p:cNvPr id="46" name="TextBox 45"/>
          <p:cNvSpPr txBox="1"/>
          <p:nvPr/>
        </p:nvSpPr>
        <p:spPr>
          <a:xfrm>
            <a:off x="6420676" y="4453128"/>
            <a:ext cx="1051560" cy="228600"/>
          </a:xfrm>
          <a:prstGeom prst="rect">
            <a:avLst/>
          </a:prstGeom>
          <a:noFill/>
        </p:spPr>
        <p:txBody>
          <a:bodyPr wrap="square">
            <a:spAutoFit/>
          </a:bodyPr>
          <a:lstStyle/>
          <a:p>
            <a:pPr algn="l"/>
            <a:r>
              <a:rPr sz="900" b="1">
                <a:solidFill>
                  <a:srgbClr val="B03A2E"/>
                </a:solidFill>
                <a:latin typeface="Calibri"/>
              </a:rPr>
              <a:t>Breaks:</a:t>
            </a:r>
          </a:p>
        </p:txBody>
      </p:sp>
      <p:sp>
        <p:nvSpPr>
          <p:cNvPr id="47" name="TextBox 46"/>
          <p:cNvSpPr txBox="1"/>
          <p:nvPr/>
        </p:nvSpPr>
        <p:spPr>
          <a:xfrm>
            <a:off x="7481380" y="4453129"/>
            <a:ext cx="4160520" cy="238527"/>
          </a:xfrm>
          <a:prstGeom prst="rect">
            <a:avLst/>
          </a:prstGeom>
          <a:noFill/>
        </p:spPr>
        <p:txBody>
          <a:bodyPr wrap="square">
            <a:spAutoFit/>
          </a:bodyPr>
          <a:lstStyle/>
          <a:p>
            <a:pPr algn="l"/>
            <a:r>
              <a:rPr sz="950">
                <a:solidFill>
                  <a:srgbClr val="5A2020"/>
                </a:solidFill>
                <a:latin typeface="Calibri"/>
              </a:rPr>
              <a:t>Reranker still returns top 5 chunks even when all scores are very low.</a:t>
            </a:r>
          </a:p>
        </p:txBody>
      </p:sp>
      <p:sp>
        <p:nvSpPr>
          <p:cNvPr id="48" name="TextBox 47"/>
          <p:cNvSpPr txBox="1"/>
          <p:nvPr/>
        </p:nvSpPr>
        <p:spPr>
          <a:xfrm>
            <a:off x="6420676" y="4956048"/>
            <a:ext cx="731520" cy="228600"/>
          </a:xfrm>
          <a:prstGeom prst="rect">
            <a:avLst/>
          </a:prstGeom>
          <a:noFill/>
        </p:spPr>
        <p:txBody>
          <a:bodyPr wrap="square">
            <a:spAutoFit/>
          </a:bodyPr>
          <a:lstStyle/>
          <a:p>
            <a:pPr algn="l"/>
            <a:r>
              <a:rPr sz="900" b="1">
                <a:solidFill>
                  <a:srgbClr val="1E7A4E"/>
                </a:solidFill>
                <a:latin typeface="Calibri"/>
              </a:rPr>
              <a:t>Fix:</a:t>
            </a:r>
          </a:p>
        </p:txBody>
      </p:sp>
      <p:sp>
        <p:nvSpPr>
          <p:cNvPr id="49" name="TextBox 48"/>
          <p:cNvSpPr txBox="1"/>
          <p:nvPr/>
        </p:nvSpPr>
        <p:spPr>
          <a:xfrm>
            <a:off x="7152196" y="4956049"/>
            <a:ext cx="4480560" cy="384721"/>
          </a:xfrm>
          <a:prstGeom prst="rect">
            <a:avLst/>
          </a:prstGeom>
          <a:noFill/>
        </p:spPr>
        <p:txBody>
          <a:bodyPr wrap="square">
            <a:spAutoFit/>
          </a:bodyPr>
          <a:lstStyle/>
          <a:p>
            <a:pPr algn="l"/>
            <a:r>
              <a:rPr sz="950">
                <a:solidFill>
                  <a:srgbClr val="1E4A2E"/>
                </a:solidFill>
                <a:latin typeface="Calibri"/>
              </a:rPr>
              <a:t>Prompt instructs GPT-4o to respond with 'I could not find relevant information'. Not guaranteed — a rerank score threshold cutoff would be a more reliable production fix.</a:t>
            </a:r>
          </a:p>
        </p:txBody>
      </p:sp>
      <p:sp>
        <p:nvSpPr>
          <p:cNvPr id="50" name="Rectangle 49"/>
          <p:cNvSpPr/>
          <p:nvPr/>
        </p:nvSpPr>
        <p:spPr>
          <a:xfrm>
            <a:off x="1588" y="6601968"/>
            <a:ext cx="12188952" cy="256032"/>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58788" y="6629400"/>
            <a:ext cx="10972800" cy="215444"/>
          </a:xfrm>
          <a:prstGeom prst="rect">
            <a:avLst/>
          </a:prstGeom>
          <a:noFill/>
        </p:spPr>
        <p:txBody>
          <a:bodyPr wrap="square">
            <a:spAutoFit/>
          </a:bodyPr>
          <a:lstStyle/>
          <a:p>
            <a:pPr algn="l"/>
            <a:r>
              <a:rPr sz="800">
                <a:solidFill>
                  <a:srgbClr val="8AAEF8"/>
                </a:solidFill>
                <a:latin typeface="Calibri"/>
              </a:rPr>
              <a:t>RAG Pipeline for AI/ML Knowledge  .  POC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TotalTime>
  <Words>935</Words>
  <Application>Microsoft Office PowerPoint</Application>
  <PresentationFormat>Widescreen</PresentationFormat>
  <Paragraphs>168</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anshu bhatia</dc:creator>
  <cp:lastModifiedBy>anshu bhatia</cp:lastModifiedBy>
  <cp:revision>2</cp:revision>
  <dcterms:created xsi:type="dcterms:W3CDTF">2026-05-14T06:50:29Z</dcterms:created>
  <dcterms:modified xsi:type="dcterms:W3CDTF">2026-05-14T07:45:24Z</dcterms:modified>
</cp:coreProperties>
</file>